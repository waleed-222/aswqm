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Poppi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oqjl2zFG0wjQvuYZH0/c3Y4z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D8455E-7A12-4B3C-AA80-D5E178C19C4D}">
  <a:tblStyle styleId="{99D8455E-7A12-4B3C-AA80-D5E178C19C4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1109B08-4BBC-4FC3-AF65-C67A8196912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11" Type="http://schemas.openxmlformats.org/officeDocument/2006/relationships/slide" Target="slides/slide6.xml"/><Relationship Id="rId22" Type="http://schemas.openxmlformats.org/officeDocument/2006/relationships/font" Target="fonts/Poppins-italic.fntdata"/><Relationship Id="rId10" Type="http://schemas.openxmlformats.org/officeDocument/2006/relationships/slide" Target="slides/slide5.xml"/><Relationship Id="rId21" Type="http://schemas.openxmlformats.org/officeDocument/2006/relationships/font" Target="fonts/Poppins-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888888"/>
                </a:solidFill>
                <a:latin typeface="Calibri"/>
                <a:ea typeface="Calibri"/>
                <a:cs typeface="Calibri"/>
                <a:sym typeface="Calibri"/>
              </a:defRPr>
            </a:lvl1pPr>
            <a:lvl2pPr indent="0" lvl="1" marL="0" marR="0" rtl="0" algn="l">
              <a:spcBef>
                <a:spcPts val="0"/>
              </a:spcBef>
              <a:buNone/>
              <a:defRPr b="0" i="0" sz="1200" u="none" cap="none" strike="noStrike">
                <a:solidFill>
                  <a:srgbClr val="888888"/>
                </a:solidFill>
                <a:latin typeface="Calibri"/>
                <a:ea typeface="Calibri"/>
                <a:cs typeface="Calibri"/>
                <a:sym typeface="Calibri"/>
              </a:defRPr>
            </a:lvl2pPr>
            <a:lvl3pPr indent="0" lvl="2" marL="0" marR="0" rtl="0" algn="l">
              <a:spcBef>
                <a:spcPts val="0"/>
              </a:spcBef>
              <a:buNone/>
              <a:defRPr b="0" i="0" sz="1200" u="none" cap="none" strike="noStrike">
                <a:solidFill>
                  <a:srgbClr val="888888"/>
                </a:solidFill>
                <a:latin typeface="Calibri"/>
                <a:ea typeface="Calibri"/>
                <a:cs typeface="Calibri"/>
                <a:sym typeface="Calibri"/>
              </a:defRPr>
            </a:lvl3pPr>
            <a:lvl4pPr indent="0" lvl="3" marL="0" marR="0" rtl="0" algn="l">
              <a:spcBef>
                <a:spcPts val="0"/>
              </a:spcBef>
              <a:buNone/>
              <a:defRPr b="0" i="0" sz="1200" u="none" cap="none" strike="noStrike">
                <a:solidFill>
                  <a:srgbClr val="888888"/>
                </a:solidFill>
                <a:latin typeface="Calibri"/>
                <a:ea typeface="Calibri"/>
                <a:cs typeface="Calibri"/>
                <a:sym typeface="Calibri"/>
              </a:defRPr>
            </a:lvl4pPr>
            <a:lvl5pPr indent="0" lvl="4" marL="0" marR="0" rtl="0" algn="l">
              <a:spcBef>
                <a:spcPts val="0"/>
              </a:spcBef>
              <a:buNone/>
              <a:defRPr b="0" i="0" sz="1200" u="none" cap="none" strike="noStrike">
                <a:solidFill>
                  <a:srgbClr val="888888"/>
                </a:solidFill>
                <a:latin typeface="Calibri"/>
                <a:ea typeface="Calibri"/>
                <a:cs typeface="Calibri"/>
                <a:sym typeface="Calibri"/>
              </a:defRPr>
            </a:lvl5pPr>
            <a:lvl6pPr indent="0" lvl="5" marL="0" marR="0" rtl="0" algn="l">
              <a:spcBef>
                <a:spcPts val="0"/>
              </a:spcBef>
              <a:buNone/>
              <a:defRPr b="0" i="0" sz="1200" u="none" cap="none" strike="noStrike">
                <a:solidFill>
                  <a:srgbClr val="888888"/>
                </a:solidFill>
                <a:latin typeface="Calibri"/>
                <a:ea typeface="Calibri"/>
                <a:cs typeface="Calibri"/>
                <a:sym typeface="Calibri"/>
              </a:defRPr>
            </a:lvl6pPr>
            <a:lvl7pPr indent="0" lvl="6" marL="0" marR="0" rtl="0" algn="l">
              <a:spcBef>
                <a:spcPts val="0"/>
              </a:spcBef>
              <a:buNone/>
              <a:defRPr b="0" i="0" sz="1200" u="none" cap="none" strike="noStrike">
                <a:solidFill>
                  <a:srgbClr val="888888"/>
                </a:solidFill>
                <a:latin typeface="Calibri"/>
                <a:ea typeface="Calibri"/>
                <a:cs typeface="Calibri"/>
                <a:sym typeface="Calibri"/>
              </a:defRPr>
            </a:lvl7pPr>
            <a:lvl8pPr indent="0" lvl="7" marL="0" marR="0" rtl="0" algn="l">
              <a:spcBef>
                <a:spcPts val="0"/>
              </a:spcBef>
              <a:buNone/>
              <a:defRPr b="0" i="0" sz="1200" u="none" cap="none" strike="noStrike">
                <a:solidFill>
                  <a:srgbClr val="888888"/>
                </a:solidFill>
                <a:latin typeface="Calibri"/>
                <a:ea typeface="Calibri"/>
                <a:cs typeface="Calibri"/>
                <a:sym typeface="Calibri"/>
              </a:defRPr>
            </a:lvl8pPr>
            <a:lvl9pPr indent="0" lvl="8" marL="0" marR="0" rtl="0" algn="l">
              <a:spcBef>
                <a:spcPts val="0"/>
              </a:spcBef>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youssefdarwish50@yahoo.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drive.google.com/file/d/1sxc-NQp5d7xtHO-BjWiTskp_PXzHApy6/view?usp=sharing" TargetMode="External"/><Relationship Id="rId5" Type="http://schemas.openxmlformats.org/officeDocument/2006/relationships/hyperlink" Target="https://drive.google.com/file/d/1sxc-NQp5d7xtHO-BjWiTskp_PXzHApy6/view?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grey background with white text&#10;&#10;Description automatically generated with low confidence" id="84" name="Google Shape;84;p1"/>
          <p:cNvPicPr preferRelativeResize="0"/>
          <p:nvPr/>
        </p:nvPicPr>
        <p:blipFill rotWithShape="1">
          <a:blip r:embed="rId3">
            <a:alphaModFix/>
          </a:blip>
          <a:srcRect b="0" l="3889" r="3889" t="0"/>
          <a:stretch/>
        </p:blipFill>
        <p:spPr>
          <a:xfrm>
            <a:off x="0" y="0"/>
            <a:ext cx="12192000" cy="6858000"/>
          </a:xfrm>
          <a:prstGeom prst="rect">
            <a:avLst/>
          </a:prstGeom>
          <a:noFill/>
          <a:ln>
            <a:noFill/>
          </a:ln>
        </p:spPr>
      </p:pic>
      <p:sp>
        <p:nvSpPr>
          <p:cNvPr id="85" name="Google Shape;85;p1"/>
          <p:cNvSpPr txBox="1"/>
          <p:nvPr/>
        </p:nvSpPr>
        <p:spPr>
          <a:xfrm>
            <a:off x="2259495" y="5266587"/>
            <a:ext cx="767300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5400" u="none" cap="none" strike="noStrike">
                <a:solidFill>
                  <a:schemeClr val="lt1"/>
                </a:solidFill>
                <a:latin typeface="Poppins"/>
                <a:ea typeface="Poppins"/>
                <a:cs typeface="Poppins"/>
                <a:sym typeface="Poppins"/>
              </a:rPr>
              <a:t>2</a:t>
            </a:r>
            <a:r>
              <a:rPr b="0" baseline="30000" i="0" lang="en-US" sz="5400" u="none" cap="none" strike="noStrike">
                <a:solidFill>
                  <a:schemeClr val="lt1"/>
                </a:solidFill>
                <a:latin typeface="Poppins"/>
                <a:ea typeface="Poppins"/>
                <a:cs typeface="Poppins"/>
                <a:sym typeface="Poppins"/>
              </a:rPr>
              <a:t>nd</a:t>
            </a:r>
            <a:r>
              <a:rPr b="0" i="0" lang="en-US" sz="5400" u="none" cap="none" strike="noStrike">
                <a:solidFill>
                  <a:schemeClr val="lt1"/>
                </a:solidFill>
                <a:latin typeface="Poppins"/>
                <a:ea typeface="Poppins"/>
                <a:cs typeface="Poppins"/>
                <a:sym typeface="Poppins"/>
              </a:rPr>
              <a:t> Filtration Phase</a:t>
            </a:r>
            <a:endParaRPr b="0" i="0" sz="5400" u="none" cap="none" strike="noStrike">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2"/>
          <p:cNvSpPr txBox="1"/>
          <p:nvPr/>
        </p:nvSpPr>
        <p:spPr>
          <a:xfrm>
            <a:off x="3048000" y="120073"/>
            <a:ext cx="6096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sng" cap="none" strike="noStrike">
                <a:solidFill>
                  <a:srgbClr val="000000"/>
                </a:solidFill>
                <a:latin typeface="Times New Roman"/>
                <a:ea typeface="Times New Roman"/>
                <a:cs typeface="Times New Roman"/>
                <a:sym typeface="Times New Roman"/>
              </a:rPr>
              <a:t>Personal Information</a:t>
            </a:r>
            <a:endParaRPr b="0" i="0" sz="1200" u="none" cap="none" strike="noStrike">
              <a:solidFill>
                <a:schemeClr val="dk1"/>
              </a:solidFill>
              <a:latin typeface="Arial"/>
              <a:ea typeface="Arial"/>
              <a:cs typeface="Arial"/>
              <a:sym typeface="Arial"/>
            </a:endParaRPr>
          </a:p>
        </p:txBody>
      </p:sp>
      <p:graphicFrame>
        <p:nvGraphicFramePr>
          <p:cNvPr id="92" name="Google Shape;92;p2"/>
          <p:cNvGraphicFramePr/>
          <p:nvPr/>
        </p:nvGraphicFramePr>
        <p:xfrm>
          <a:off x="83127" y="969048"/>
          <a:ext cx="3000000" cy="3000000"/>
        </p:xfrm>
        <a:graphic>
          <a:graphicData uri="http://schemas.openxmlformats.org/drawingml/2006/table">
            <a:tbl>
              <a:tblPr bandRow="1" firstRow="1">
                <a:noFill/>
                <a:tableStyleId>{99D8455E-7A12-4B3C-AA80-D5E178C19C4D}</a:tableStyleId>
              </a:tblPr>
              <a:tblGrid>
                <a:gridCol w="2294875"/>
                <a:gridCol w="1257300"/>
                <a:gridCol w="1714500"/>
                <a:gridCol w="3207225"/>
                <a:gridCol w="3022675"/>
                <a:gridCol w="316375"/>
              </a:tblGrid>
              <a:tr h="370850">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Experience Background</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Team Role</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Phone Number </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Email</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Name</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c>
                  <a:txBody>
                    <a:bodyPr/>
                    <a:lstStyle/>
                    <a:p>
                      <a:pPr indent="0" lvl="0" marL="0" marR="0" rtl="1" algn="ctr">
                        <a:spcBef>
                          <a:spcPts val="0"/>
                        </a:spcBef>
                        <a:spcAft>
                          <a:spcPts val="0"/>
                        </a:spcAft>
                        <a:buNone/>
                      </a:pPr>
                      <a:r>
                        <a:rPr lang="en-US" sz="1600" u="none" cap="none" strike="noStrike">
                          <a:solidFill>
                            <a:schemeClr val="lt1"/>
                          </a:solidFill>
                          <a:latin typeface="Poppins"/>
                          <a:ea typeface="Poppins"/>
                          <a:cs typeface="Poppins"/>
                          <a:sym typeface="Poppins"/>
                        </a:rPr>
                        <a:t>#</a:t>
                      </a:r>
                      <a:endParaRPr sz="1600" u="none" cap="none" strike="noStrike">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577700">
                <a:tc>
                  <a:txBody>
                    <a:bodyPr/>
                    <a:lstStyle/>
                    <a:p>
                      <a:pPr indent="0" lvl="0" marL="0" marR="0" rtl="0" algn="l">
                        <a:spcBef>
                          <a:spcPts val="0"/>
                        </a:spcBef>
                        <a:spcAft>
                          <a:spcPts val="0"/>
                        </a:spcAft>
                        <a:buNone/>
                      </a:pPr>
                      <a:r>
                        <a:rPr lang="en-US" sz="1800"/>
                        <a:t>Embedded systems</a:t>
                      </a:r>
                      <a:endParaRPr sz="1800"/>
                    </a:p>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Team Leader</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latin typeface="Calibri"/>
                          <a:ea typeface="Calibri"/>
                          <a:cs typeface="Calibri"/>
                          <a:sym typeface="Calibri"/>
                        </a:rPr>
                        <a:t>01156493884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omniam200079@gmail.com</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Omnia Mahmoud Ismail</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en-US" sz="1800" u="none" cap="none" strike="noStrike"/>
                        <a:t>1</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12550">
                <a:tc>
                  <a:txBody>
                    <a:bodyPr/>
                    <a:lstStyle/>
                    <a:p>
                      <a:pPr indent="0" lvl="0" marL="0" marR="0" rtl="0" algn="l">
                        <a:spcBef>
                          <a:spcPts val="0"/>
                        </a:spcBef>
                        <a:spcAft>
                          <a:spcPts val="0"/>
                        </a:spcAft>
                        <a:buNone/>
                      </a:pPr>
                      <a:r>
                        <a:rPr lang="en-US" sz="1800"/>
                        <a:t>Embedded systems</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Team member</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latin typeface="Calibri"/>
                          <a:ea typeface="Calibri"/>
                          <a:cs typeface="Calibri"/>
                          <a:sym typeface="Calibri"/>
                        </a:rPr>
                        <a:t>01067042473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01067042473m@gmail.com</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Mohamed Mohsen Mansour</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en-US" sz="1800" u="none" cap="none" strike="noStrike"/>
                        <a:t>2</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9625">
                <a:tc>
                  <a:txBody>
                    <a:bodyPr/>
                    <a:lstStyle/>
                    <a:p>
                      <a:pPr indent="0" lvl="0" marL="0" marR="0" rtl="0" algn="l">
                        <a:spcBef>
                          <a:spcPts val="0"/>
                        </a:spcBef>
                        <a:spcAft>
                          <a:spcPts val="0"/>
                        </a:spcAft>
                        <a:buNone/>
                      </a:pPr>
                      <a:r>
                        <a:rPr lang="en-US" sz="1800"/>
                        <a:t>Embedded systems</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Team member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b="0" lang="en-US" sz="1800" u="none" cap="none" strike="noStrike">
                          <a:latin typeface="Arial"/>
                          <a:ea typeface="Arial"/>
                          <a:cs typeface="Arial"/>
                          <a:sym typeface="Arial"/>
                        </a:rPr>
                        <a:t>01127153963</a:t>
                      </a:r>
                      <a:endParaRPr b="0" sz="18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waleed.ebrahem.19@gmail.com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Waleed Ebrahem Mohamed</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en-US" sz="1800" u="none" cap="none" strike="noStrike"/>
                        <a:t>3</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1575">
                <a:tc>
                  <a:txBody>
                    <a:bodyPr/>
                    <a:lstStyle/>
                    <a:p>
                      <a:pPr indent="0" lvl="0" marL="0" marR="0" rtl="1" algn="l">
                        <a:lnSpc>
                          <a:spcPct val="100000"/>
                        </a:lnSpc>
                        <a:spcBef>
                          <a:spcPts val="0"/>
                        </a:spcBef>
                        <a:spcAft>
                          <a:spcPts val="0"/>
                        </a:spcAft>
                        <a:buClr>
                          <a:schemeClr val="dk1"/>
                        </a:buClr>
                        <a:buSzPts val="1800"/>
                        <a:buFont typeface="Calibri"/>
                        <a:buNone/>
                      </a:pPr>
                      <a:r>
                        <a:rPr lang="en-US" sz="1800" u="none" cap="none" strike="noStrike"/>
                        <a:t>Embedded systems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Team member</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latin typeface="Calibri"/>
                          <a:ea typeface="Calibri"/>
                          <a:cs typeface="Calibri"/>
                          <a:sym typeface="Calibri"/>
                        </a:rPr>
                        <a:t>01200474980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sng" cap="none" strike="noStrike">
                          <a:solidFill>
                            <a:schemeClr val="hlink"/>
                          </a:solidFill>
                          <a:hlinkClick r:id="rId3"/>
                        </a:rPr>
                        <a:t>youssefdarwish50@gmail.com</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Youssef Ahmed Hosny</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en-US" sz="1800" u="none" cap="none" strike="noStrike"/>
                        <a:t>4</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3125">
                <a:tc>
                  <a:txBody>
                    <a:bodyPr/>
                    <a:lstStyle/>
                    <a:p>
                      <a:pPr indent="0" lvl="0" marL="0" marR="0" rtl="0" algn="l">
                        <a:spcBef>
                          <a:spcPts val="0"/>
                        </a:spcBef>
                        <a:spcAft>
                          <a:spcPts val="0"/>
                        </a:spcAft>
                        <a:buNone/>
                      </a:pPr>
                      <a:r>
                        <a:rPr lang="en-US" sz="1800"/>
                        <a:t>Embedded Testing</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Team member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latin typeface="Calibri"/>
                          <a:ea typeface="Calibri"/>
                          <a:cs typeface="Calibri"/>
                          <a:sym typeface="Calibri"/>
                        </a:rPr>
                        <a:t>01155100252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Halam2146@gmail.com</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l">
                        <a:spcBef>
                          <a:spcPts val="0"/>
                        </a:spcBef>
                        <a:spcAft>
                          <a:spcPts val="0"/>
                        </a:spcAft>
                        <a:buNone/>
                      </a:pPr>
                      <a:r>
                        <a:rPr lang="en-US" sz="1800" u="none" cap="none" strike="noStrike"/>
                        <a:t>Hala Mohamed Hemaida</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en-US" sz="1800" u="none" cap="none" strike="noStrike"/>
                        <a:t>5</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96" name="Shape 96"/>
        <p:cNvGrpSpPr/>
        <p:nvPr/>
      </p:nvGrpSpPr>
      <p:grpSpPr>
        <a:xfrm>
          <a:off x="0" y="0"/>
          <a:ext cx="0" cy="0"/>
          <a:chOff x="0" y="0"/>
          <a:chExt cx="0" cy="0"/>
        </a:xfrm>
      </p:grpSpPr>
      <p:sp>
        <p:nvSpPr>
          <p:cNvPr id="97" name="Google Shape;97;p3"/>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3"/>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rgbClr val="000000"/>
                </a:solidFill>
                <a:latin typeface="Times New Roman"/>
                <a:ea typeface="Times New Roman"/>
                <a:cs typeface="Times New Roman"/>
                <a:sym typeface="Times New Roman"/>
              </a:rPr>
              <a:t>Project Description</a:t>
            </a:r>
            <a:endParaRPr b="0" i="0" sz="1400" u="none" cap="none" strike="noStrike">
              <a:solidFill>
                <a:schemeClr val="dk1"/>
              </a:solidFill>
              <a:latin typeface="Arial"/>
              <a:ea typeface="Arial"/>
              <a:cs typeface="Arial"/>
              <a:sym typeface="Arial"/>
            </a:endParaRPr>
          </a:p>
        </p:txBody>
      </p:sp>
      <p:graphicFrame>
        <p:nvGraphicFramePr>
          <p:cNvPr id="99" name="Google Shape;99;p3"/>
          <p:cNvGraphicFramePr/>
          <p:nvPr/>
        </p:nvGraphicFramePr>
        <p:xfrm>
          <a:off x="258618" y="763365"/>
          <a:ext cx="3000000" cy="3000000"/>
        </p:xfrm>
        <a:graphic>
          <a:graphicData uri="http://schemas.openxmlformats.org/drawingml/2006/table">
            <a:tbl>
              <a:tblPr bandRow="1" firstRow="1">
                <a:noFill/>
                <a:tableStyleId>{99D8455E-7A12-4B3C-AA80-D5E178C19C4D}</a:tableStyleId>
              </a:tblPr>
              <a:tblGrid>
                <a:gridCol w="11674775"/>
              </a:tblGrid>
              <a:tr h="474300">
                <a:tc>
                  <a:txBody>
                    <a:bodyPr/>
                    <a:lstStyle/>
                    <a:p>
                      <a:pPr indent="0" lvl="0" marL="0" marR="0" rtl="1" algn="ctr">
                        <a:spcBef>
                          <a:spcPts val="0"/>
                        </a:spcBef>
                        <a:spcAft>
                          <a:spcPts val="0"/>
                        </a:spcAft>
                        <a:buNone/>
                      </a:pPr>
                      <a:r>
                        <a:rPr b="1" lang="en-US" sz="1600" u="none" cap="none" strike="noStrike">
                          <a:solidFill>
                            <a:schemeClr val="lt1"/>
                          </a:solidFill>
                          <a:latin typeface="Poppins"/>
                          <a:ea typeface="Poppins"/>
                          <a:cs typeface="Poppins"/>
                          <a:sym typeface="Poppins"/>
                        </a:rPr>
                        <a:t>Problem Statement </a:t>
                      </a:r>
                      <a:r>
                        <a:rPr b="1" lang="en-US" sz="1200" u="none" cap="none" strike="noStrike">
                          <a:solidFill>
                            <a:schemeClr val="lt1"/>
                          </a:solidFill>
                          <a:latin typeface="Calibri"/>
                          <a:ea typeface="Calibri"/>
                          <a:cs typeface="Calibri"/>
                          <a:sym typeface="Calibri"/>
                        </a:rPr>
                        <a:t>Identify the Problem that your project solves</a:t>
                      </a:r>
                      <a:endParaRPr sz="1800" u="none" cap="none" strike="noStrike">
                        <a:solidFill>
                          <a:schemeClr val="lt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34975">
                <a:tc>
                  <a:txBody>
                    <a:bodyPr/>
                    <a:lstStyle/>
                    <a:p>
                      <a:pPr indent="0" lvl="0" marL="0" marR="0" rtl="1" algn="l">
                        <a:spcBef>
                          <a:spcPts val="0"/>
                        </a:spcBef>
                        <a:spcAft>
                          <a:spcPts val="0"/>
                        </a:spcAft>
                        <a:buNone/>
                      </a:pPr>
                      <a:r>
                        <a:rPr b="0" i="0" lang="en-US" sz="1800" u="none" cap="none" strike="noStrike">
                          <a:solidFill>
                            <a:schemeClr val="dk1"/>
                          </a:solidFill>
                          <a:latin typeface="Calibri"/>
                          <a:ea typeface="Calibri"/>
                          <a:cs typeface="Calibri"/>
                          <a:sym typeface="Calibri"/>
                        </a:rPr>
                        <a:t>Water pollution presents significant challenges when it comes to monitoring and assessing its impact on aquatic environments. One of the main difficulties lies in the vastness and complexity of water systems, making it challenging to collect comprehensive data. Additionally, pollutants can originate from various sources, both point and non-point, making it difficult to pinpoint their exact origins. Furthermore, the dynamic nature of water bodies, including currents and tides, can disperse pollutants, making their detection and measurement even more challenging. Inadequate monitoring infrastructure and limited resources further hinder the timely and accurate assessment of water pollution. Overcoming these difficulties requires the development of advanced monitoring technologies, enhanced collaboration between stakeholders, and increased investment in robust monitoring systems to ensure the protection and conservation of our water resources.</a:t>
                      </a:r>
                      <a:endParaRPr sz="12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00" name="Google Shape;100;p3"/>
          <p:cNvGraphicFramePr/>
          <p:nvPr/>
        </p:nvGraphicFramePr>
        <p:xfrm>
          <a:off x="258618" y="3672649"/>
          <a:ext cx="3000000" cy="3000000"/>
        </p:xfrm>
        <a:graphic>
          <a:graphicData uri="http://schemas.openxmlformats.org/drawingml/2006/table">
            <a:tbl>
              <a:tblPr bandRow="1" firstRow="1">
                <a:noFill/>
                <a:tableStyleId>{99D8455E-7A12-4B3C-AA80-D5E178C19C4D}</a:tableStyleId>
              </a:tblPr>
              <a:tblGrid>
                <a:gridCol w="11674775"/>
              </a:tblGrid>
              <a:tr h="474300">
                <a:tc>
                  <a:txBody>
                    <a:bodyPr/>
                    <a:lstStyle/>
                    <a:p>
                      <a:pPr indent="0" lvl="0" marL="228600" marR="0" rtl="0" algn="ctr">
                        <a:spcBef>
                          <a:spcPts val="0"/>
                        </a:spcBef>
                        <a:spcAft>
                          <a:spcPts val="0"/>
                        </a:spcAft>
                        <a:buNone/>
                      </a:pPr>
                      <a:r>
                        <a:rPr b="1" lang="en-US" sz="1600" u="none" cap="none" strike="noStrike">
                          <a:solidFill>
                            <a:schemeClr val="lt1"/>
                          </a:solidFill>
                          <a:latin typeface="Poppins"/>
                          <a:ea typeface="Poppins"/>
                          <a:cs typeface="Poppins"/>
                          <a:sym typeface="Poppins"/>
                        </a:rPr>
                        <a:t>Solution Description </a:t>
                      </a:r>
                      <a:r>
                        <a:rPr b="1" lang="en-US" sz="1200" u="none" cap="none" strike="noStrike">
                          <a:solidFill>
                            <a:schemeClr val="lt1"/>
                          </a:solidFill>
                          <a:latin typeface="Times New Roman"/>
                          <a:ea typeface="Times New Roman"/>
                          <a:cs typeface="Times New Roman"/>
                          <a:sym typeface="Times New Roman"/>
                        </a:rPr>
                        <a:t>Novelty and Features that the project introduces</a:t>
                      </a:r>
                      <a:endParaRPr sz="1100" u="none" cap="none" strike="noStrike">
                        <a:solidFill>
                          <a:schemeClr val="lt1"/>
                        </a:solidFill>
                        <a:latin typeface="Arial"/>
                        <a:ea typeface="Arial"/>
                        <a:cs typeface="Arial"/>
                        <a:sym typeface="Arial"/>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34975">
                <a:tc>
                  <a:txBody>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Solution</a:t>
                      </a:r>
                      <a:r>
                        <a:rPr b="0" i="0" lang="en-US" sz="1800" u="none" cap="none" strike="noStrike">
                          <a:solidFill>
                            <a:schemeClr val="dk1"/>
                          </a:solidFill>
                          <a:latin typeface="Calibri"/>
                          <a:ea typeface="Calibri"/>
                          <a:cs typeface="Calibri"/>
                          <a:sym typeface="Calibri"/>
                        </a:rPr>
                        <a:t>: using boat which will be our way to monitor quality of water which has feature as: </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-Using not expensive sensors to achieve monitoring.                          -Check water quality remotely.</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-Achieve Real Time and Easy Information.                                             -Quality Classification According to User’s needs.</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-Using MPU and GPS Sensors to Navigate.                                            -Communicating with mobile through Bluetooth Waves.</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-Autonomous Moving by just one Click.                                                -Holding Water Sensors.</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-Using PID Algorithm.</a:t>
                      </a:r>
                      <a:endParaRPr/>
                    </a:p>
                    <a:p>
                      <a:pPr indent="0" lvl="0" marL="0" marR="0" rtl="1" algn="l">
                        <a:spcBef>
                          <a:spcPts val="0"/>
                        </a:spcBef>
                        <a:spcAft>
                          <a:spcPts val="0"/>
                        </a:spcAft>
                        <a:buNone/>
                      </a:pPr>
                      <a:r>
                        <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04" name="Shape 104"/>
        <p:cNvGrpSpPr/>
        <p:nvPr/>
      </p:nvGrpSpPr>
      <p:grpSpPr>
        <a:xfrm>
          <a:off x="0" y="0"/>
          <a:ext cx="0" cy="0"/>
          <a:chOff x="0" y="0"/>
          <a:chExt cx="0" cy="0"/>
        </a:xfrm>
      </p:grpSpPr>
      <p:sp>
        <p:nvSpPr>
          <p:cNvPr id="105" name="Google Shape;105;p4"/>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4"/>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rgbClr val="000000"/>
                </a:solidFill>
                <a:latin typeface="Times New Roman"/>
                <a:ea typeface="Times New Roman"/>
                <a:cs typeface="Times New Roman"/>
                <a:sym typeface="Times New Roman"/>
              </a:rPr>
              <a:t>Project Description</a:t>
            </a:r>
            <a:endParaRPr b="0" i="0" sz="1400" u="none" cap="none" strike="noStrike">
              <a:solidFill>
                <a:schemeClr val="dk1"/>
              </a:solidFill>
              <a:latin typeface="Arial"/>
              <a:ea typeface="Arial"/>
              <a:cs typeface="Arial"/>
              <a:sym typeface="Arial"/>
            </a:endParaRPr>
          </a:p>
        </p:txBody>
      </p:sp>
      <p:graphicFrame>
        <p:nvGraphicFramePr>
          <p:cNvPr id="107" name="Google Shape;107;p4"/>
          <p:cNvGraphicFramePr/>
          <p:nvPr/>
        </p:nvGraphicFramePr>
        <p:xfrm>
          <a:off x="258618" y="763365"/>
          <a:ext cx="3000000" cy="3000000"/>
        </p:xfrm>
        <a:graphic>
          <a:graphicData uri="http://schemas.openxmlformats.org/drawingml/2006/table">
            <a:tbl>
              <a:tblPr bandRow="1" firstRow="1">
                <a:noFill/>
                <a:tableStyleId>{99D8455E-7A12-4B3C-AA80-D5E178C19C4D}</a:tableStyleId>
              </a:tblPr>
              <a:tblGrid>
                <a:gridCol w="11674775"/>
              </a:tblGrid>
              <a:tr h="474300">
                <a:tc>
                  <a:txBody>
                    <a:bodyPr/>
                    <a:lstStyle/>
                    <a:p>
                      <a:pPr indent="0" lvl="0" marL="0" marR="0" rtl="1" algn="ctr">
                        <a:spcBef>
                          <a:spcPts val="0"/>
                        </a:spcBef>
                        <a:spcAft>
                          <a:spcPts val="0"/>
                        </a:spcAft>
                        <a:buNone/>
                      </a:pPr>
                      <a:r>
                        <a:rPr b="1" lang="en-US" sz="1600" u="none" cap="none" strike="noStrike">
                          <a:solidFill>
                            <a:schemeClr val="lt1"/>
                          </a:solidFill>
                          <a:latin typeface="Poppins"/>
                          <a:ea typeface="Poppins"/>
                          <a:cs typeface="Poppins"/>
                          <a:sym typeface="Poppins"/>
                        </a:rPr>
                        <a:t>Deliverables</a:t>
                      </a:r>
                      <a:r>
                        <a:rPr b="1" lang="en-US" sz="1800" u="none" cap="none" strike="noStrike">
                          <a:solidFill>
                            <a:schemeClr val="lt1"/>
                          </a:solidFill>
                          <a:latin typeface="Calibri"/>
                          <a:ea typeface="Calibri"/>
                          <a:cs typeface="Calibri"/>
                          <a:sym typeface="Calibri"/>
                        </a:rPr>
                        <a:t> </a:t>
                      </a:r>
                      <a:r>
                        <a:rPr b="1" lang="en-US" sz="1200" u="none" cap="none" strike="noStrike">
                          <a:solidFill>
                            <a:schemeClr val="lt1"/>
                          </a:solidFill>
                          <a:latin typeface="Calibri"/>
                          <a:ea typeface="Calibri"/>
                          <a:cs typeface="Calibri"/>
                          <a:sym typeface="Calibri"/>
                        </a:rPr>
                        <a:t>The Project's Final Outcome: (HW Device - SW Packages - Simulation – Machine)</a:t>
                      </a:r>
                      <a:endParaRPr b="1" sz="1200" u="none" cap="none" strike="noStrike">
                        <a:solidFill>
                          <a:schemeClr val="lt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34975">
                <a:tc>
                  <a:txBody>
                    <a:bodyPr/>
                    <a:lstStyle/>
                    <a:p>
                      <a:pPr indent="0" lvl="0" marL="0" marR="0" rtl="0" algn="ctr">
                        <a:spcBef>
                          <a:spcPts val="0"/>
                        </a:spcBef>
                        <a:spcAft>
                          <a:spcPts val="0"/>
                        </a:spcAft>
                        <a:buNone/>
                      </a:pPr>
                      <a:r>
                        <a:t/>
                      </a:r>
                      <a:endParaRPr sz="3600" u="sng" cap="none" strike="noStrike">
                        <a:solidFill>
                          <a:schemeClr val="dk1"/>
                        </a:solidFill>
                        <a:hlinkClick r:id="rId4">
                          <a:extLst>
                            <a:ext uri="{A12FA001-AC4F-418D-AE19-62706E023703}">
                              <ahyp:hlinkClr val="tx"/>
                            </a:ext>
                          </a:extLst>
                        </a:hlinkClick>
                      </a:endParaRPr>
                    </a:p>
                    <a:p>
                      <a:pPr indent="0" lvl="0" marL="0" marR="0" rtl="0" algn="ctr">
                        <a:spcBef>
                          <a:spcPts val="0"/>
                        </a:spcBef>
                        <a:spcAft>
                          <a:spcPts val="0"/>
                        </a:spcAft>
                        <a:buNone/>
                      </a:pPr>
                      <a:r>
                        <a:rPr lang="en-US" sz="3600" u="sng" cap="none" strike="noStrike">
                          <a:solidFill>
                            <a:schemeClr val="dk1"/>
                          </a:solidFill>
                          <a:hlinkClick r:id="rId5">
                            <a:extLst>
                              <a:ext uri="{A12FA001-AC4F-418D-AE19-62706E023703}">
                                <ahyp:hlinkClr val="tx"/>
                              </a:ext>
                            </a:extLst>
                          </a:hlinkClick>
                        </a:rPr>
                        <a:t>ASWQM Video</a:t>
                      </a:r>
                      <a:endParaRPr sz="3600" u="none" cap="none" strike="noStrike">
                        <a:solidFill>
                          <a:schemeClr val="dk1"/>
                        </a:solidFill>
                      </a:endParaRPr>
                    </a:p>
                    <a:p>
                      <a:pPr indent="0" lvl="0" marL="0" marR="0" rtl="1" algn="ctr">
                        <a:spcBef>
                          <a:spcPts val="0"/>
                        </a:spcBef>
                        <a:spcAft>
                          <a:spcPts val="0"/>
                        </a:spcAft>
                        <a:buNone/>
                      </a:pPr>
                      <a:r>
                        <a:t/>
                      </a:r>
                      <a:endParaRPr sz="1800" u="none" cap="none" strike="noStrike">
                        <a:solidFill>
                          <a:schemeClr val="dk1"/>
                        </a:solidFill>
                      </a:endParaRPr>
                    </a:p>
                    <a:p>
                      <a:pPr indent="0" lvl="0" marL="0" marR="0" rtl="1" algn="ctr">
                        <a:spcBef>
                          <a:spcPts val="0"/>
                        </a:spcBef>
                        <a:spcAft>
                          <a:spcPts val="0"/>
                        </a:spcAft>
                        <a:buNone/>
                      </a:pPr>
                      <a:r>
                        <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08" name="Google Shape;108;p4"/>
          <p:cNvGraphicFramePr/>
          <p:nvPr/>
        </p:nvGraphicFramePr>
        <p:xfrm>
          <a:off x="258618" y="3672649"/>
          <a:ext cx="3000000" cy="3000000"/>
        </p:xfrm>
        <a:graphic>
          <a:graphicData uri="http://schemas.openxmlformats.org/drawingml/2006/table">
            <a:tbl>
              <a:tblPr bandRow="1" firstRow="1">
                <a:noFill/>
                <a:tableStyleId>{99D8455E-7A12-4B3C-AA80-D5E178C19C4D}</a:tableStyleId>
              </a:tblPr>
              <a:tblGrid>
                <a:gridCol w="11674775"/>
              </a:tblGrid>
              <a:tr h="474300">
                <a:tc>
                  <a:txBody>
                    <a:bodyPr/>
                    <a:lstStyle/>
                    <a:p>
                      <a:pPr indent="0" lvl="0" marL="228600" marR="0" rtl="0" algn="ctr">
                        <a:spcBef>
                          <a:spcPts val="0"/>
                        </a:spcBef>
                        <a:spcAft>
                          <a:spcPts val="0"/>
                        </a:spcAft>
                        <a:buNone/>
                      </a:pPr>
                      <a:r>
                        <a:rPr b="1" lang="en-US" sz="1600" u="none" cap="none" strike="noStrike">
                          <a:solidFill>
                            <a:schemeClr val="lt1"/>
                          </a:solidFill>
                          <a:latin typeface="Poppins"/>
                          <a:ea typeface="Poppins"/>
                          <a:cs typeface="Poppins"/>
                          <a:sym typeface="Poppins"/>
                        </a:rPr>
                        <a:t>Impact of the Solution </a:t>
                      </a:r>
                      <a:r>
                        <a:rPr b="1" lang="en-US" sz="1200" u="none" cap="none" strike="noStrike">
                          <a:solidFill>
                            <a:schemeClr val="lt1"/>
                          </a:solidFill>
                          <a:latin typeface="Calibri"/>
                          <a:ea typeface="Calibri"/>
                          <a:cs typeface="Calibri"/>
                          <a:sym typeface="Calibri"/>
                        </a:rPr>
                        <a:t>The Project Impact on the Community/Market</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34975">
                <a:tc>
                  <a:txBody>
                    <a:bodyPr/>
                    <a:lstStyle/>
                    <a:p>
                      <a:pPr indent="0" lvl="0" marL="0" marR="0" rtl="1" algn="l">
                        <a:spcBef>
                          <a:spcPts val="0"/>
                        </a:spcBef>
                        <a:spcAft>
                          <a:spcPts val="0"/>
                        </a:spcAft>
                        <a:buNone/>
                      </a:pPr>
                      <a:r>
                        <a:rPr lang="en-US" sz="1800" u="none" cap="none" strike="noStrike">
                          <a:solidFill>
                            <a:schemeClr val="dk1"/>
                          </a:solidFill>
                        </a:rPr>
                        <a:t>Our project will change world of water monitoring by:</a:t>
                      </a:r>
                      <a:endParaRPr/>
                    </a:p>
                    <a:p>
                      <a:pPr indent="0" lvl="0" marL="0" marR="0" rtl="1" algn="l">
                        <a:spcBef>
                          <a:spcPts val="0"/>
                        </a:spcBef>
                        <a:spcAft>
                          <a:spcPts val="0"/>
                        </a:spcAft>
                        <a:buNone/>
                      </a:pPr>
                      <a:r>
                        <a:rPr lang="en-US" sz="1800" u="none" cap="none" strike="noStrike">
                          <a:solidFill>
                            <a:schemeClr val="dk1"/>
                          </a:solidFill>
                        </a:rPr>
                        <a:t>-It’s easier to test by boats.</a:t>
                      </a:r>
                      <a:endParaRPr/>
                    </a:p>
                    <a:p>
                      <a:pPr indent="0" lvl="0" marL="0" marR="0" rtl="1" algn="l">
                        <a:spcBef>
                          <a:spcPts val="0"/>
                        </a:spcBef>
                        <a:spcAft>
                          <a:spcPts val="0"/>
                        </a:spcAft>
                        <a:buNone/>
                      </a:pPr>
                      <a:r>
                        <a:rPr lang="en-US" sz="1800" u="none" cap="none" strike="noStrike">
                          <a:solidFill>
                            <a:schemeClr val="dk1"/>
                          </a:solidFill>
                        </a:rPr>
                        <a:t>-cost of testing cheaper than traditional test</a:t>
                      </a:r>
                      <a:endParaRPr/>
                    </a:p>
                    <a:p>
                      <a:pPr indent="0" lvl="0" marL="0" marR="0" rtl="1" algn="l">
                        <a:spcBef>
                          <a:spcPts val="0"/>
                        </a:spcBef>
                        <a:spcAft>
                          <a:spcPts val="0"/>
                        </a:spcAft>
                        <a:buNone/>
                      </a:pPr>
                      <a:r>
                        <a:rPr lang="en-US" sz="1800" u="none" cap="none" strike="noStrike">
                          <a:solidFill>
                            <a:schemeClr val="dk1"/>
                          </a:solidFill>
                        </a:rPr>
                        <a:t>-factories can use our project,</a:t>
                      </a:r>
                      <a:endParaRPr/>
                    </a:p>
                    <a:p>
                      <a:pPr indent="0" lvl="0" marL="0" marR="0" rtl="1" algn="l">
                        <a:spcBef>
                          <a:spcPts val="0"/>
                        </a:spcBef>
                        <a:spcAft>
                          <a:spcPts val="0"/>
                        </a:spcAft>
                        <a:buNone/>
                      </a:pPr>
                      <a:r>
                        <a:rPr lang="en-US" sz="1800" u="none" cap="none" strike="noStrike">
                          <a:solidFill>
                            <a:schemeClr val="dk1"/>
                          </a:solidFill>
                        </a:rPr>
                        <a:t>-this project not has bad effect on human by not make tester face maybe dangerous (polluted water)to human health.</a:t>
                      </a:r>
                      <a:endParaRPr/>
                    </a:p>
                    <a:p>
                      <a:pPr indent="0" lvl="0" marL="0" marR="0" rtl="1" algn="l">
                        <a:spcBef>
                          <a:spcPts val="0"/>
                        </a:spcBef>
                        <a:spcAft>
                          <a:spcPts val="0"/>
                        </a:spcAft>
                        <a:buNone/>
                      </a:pPr>
                      <a:r>
                        <a:rPr lang="en-US" sz="1800" u="none" cap="none" strike="noStrike">
                          <a:solidFill>
                            <a:schemeClr val="dk1"/>
                          </a:solidFill>
                        </a:rPr>
                        <a:t>-save time and save result on mobile app which is user friendly.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12" name="Shape 112"/>
        <p:cNvGrpSpPr/>
        <p:nvPr/>
      </p:nvGrpSpPr>
      <p:grpSpPr>
        <a:xfrm>
          <a:off x="0" y="0"/>
          <a:ext cx="0" cy="0"/>
          <a:chOff x="0" y="0"/>
          <a:chExt cx="0" cy="0"/>
        </a:xfrm>
      </p:grpSpPr>
      <p:sp>
        <p:nvSpPr>
          <p:cNvPr id="113" name="Google Shape;113;p5"/>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 name="Google Shape;114;p5"/>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Business Plan</a:t>
            </a:r>
            <a:endParaRPr b="0" i="0" sz="2800" u="none" cap="none" strike="noStrike">
              <a:solidFill>
                <a:schemeClr val="dk1"/>
              </a:solidFill>
              <a:latin typeface="Arial"/>
              <a:ea typeface="Arial"/>
              <a:cs typeface="Arial"/>
              <a:sym typeface="Arial"/>
            </a:endParaRPr>
          </a:p>
        </p:txBody>
      </p:sp>
      <p:graphicFrame>
        <p:nvGraphicFramePr>
          <p:cNvPr id="115" name="Google Shape;115;p5"/>
          <p:cNvGraphicFramePr/>
          <p:nvPr/>
        </p:nvGraphicFramePr>
        <p:xfrm>
          <a:off x="258618" y="643293"/>
          <a:ext cx="3000000" cy="3000000"/>
        </p:xfrm>
        <a:graphic>
          <a:graphicData uri="http://schemas.openxmlformats.org/drawingml/2006/table">
            <a:tbl>
              <a:tblPr bandRow="1" firstRow="1">
                <a:noFill/>
                <a:tableStyleId>{99D8455E-7A12-4B3C-AA80-D5E178C19C4D}</a:tableStyleId>
              </a:tblPr>
              <a:tblGrid>
                <a:gridCol w="11674775"/>
              </a:tblGrid>
              <a:tr h="914200">
                <a:tc>
                  <a:txBody>
                    <a:bodyPr/>
                    <a:lstStyle/>
                    <a:p>
                      <a:pPr indent="0" lvl="0" marL="0" marR="0" rtl="1" algn="ctr">
                        <a:spcBef>
                          <a:spcPts val="0"/>
                        </a:spcBef>
                        <a:spcAft>
                          <a:spcPts val="0"/>
                        </a:spcAft>
                        <a:buNone/>
                      </a:pPr>
                      <a:r>
                        <a:rPr b="1" lang="en-US" sz="1600" u="none" cap="none" strike="noStrike">
                          <a:solidFill>
                            <a:schemeClr val="lt1"/>
                          </a:solidFill>
                          <a:latin typeface="Poppins"/>
                          <a:ea typeface="Poppins"/>
                          <a:cs typeface="Poppins"/>
                          <a:sym typeface="Poppins"/>
                        </a:rPr>
                        <a:t>Market Research</a:t>
                      </a:r>
                      <a:r>
                        <a:rPr b="1" lang="en-US" sz="1800" u="none" cap="none" strike="noStrike">
                          <a:solidFill>
                            <a:schemeClr val="lt1"/>
                          </a:solidFill>
                          <a:latin typeface="Calibri"/>
                          <a:ea typeface="Calibri"/>
                          <a:cs typeface="Calibri"/>
                          <a:sym typeface="Calibri"/>
                        </a:rPr>
                        <a:t> </a:t>
                      </a:r>
                      <a:r>
                        <a:rPr b="1" lang="en-US" sz="1200" u="none" cap="none" strike="noStrike">
                          <a:solidFill>
                            <a:schemeClr val="lt1"/>
                          </a:solidFill>
                          <a:latin typeface="Calibri"/>
                          <a:ea typeface="Calibri"/>
                          <a:cs typeface="Calibri"/>
                          <a:sym typeface="Calibri"/>
                        </a:rPr>
                        <a:t>Summarize the market research conducted, including the size of the market, and target audience.</a:t>
                      </a:r>
                      <a:endParaRPr/>
                    </a:p>
                    <a:p>
                      <a:pPr indent="0" lvl="0" marL="0" marR="0" rtl="1" algn="ctr">
                        <a:spcBef>
                          <a:spcPts val="0"/>
                        </a:spcBef>
                        <a:spcAft>
                          <a:spcPts val="0"/>
                        </a:spcAft>
                        <a:buNone/>
                      </a:pPr>
                      <a:r>
                        <a:rPr b="1" lang="en-US" sz="1200" u="none" cap="none" strike="noStrike">
                          <a:solidFill>
                            <a:schemeClr val="lt1"/>
                          </a:solidFill>
                          <a:latin typeface="Calibri"/>
                          <a:ea typeface="Calibri"/>
                          <a:cs typeface="Calibri"/>
                          <a:sym typeface="Calibri"/>
                        </a:rPr>
                        <a:t> Highlight any trends or opportunities that support the viability of the project.</a:t>
                      </a:r>
                      <a:endParaRPr b="1" sz="1200" u="none" cap="none" strike="noStrike">
                        <a:solidFill>
                          <a:schemeClr val="lt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5180450">
                <a:tc>
                  <a:txBody>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Market Size: </a:t>
                      </a:r>
                      <a:r>
                        <a:rPr b="0" i="0" lang="en-US" sz="1800" u="none" cap="none" strike="noStrike">
                          <a:solidFill>
                            <a:schemeClr val="dk1"/>
                          </a:solidFill>
                          <a:latin typeface="Calibri"/>
                          <a:ea typeface="Calibri"/>
                          <a:cs typeface="Calibri"/>
                          <a:sym typeface="Calibri"/>
                        </a:rPr>
                        <a:t>The market size for water quality monitoring can vary depending on the specific application and geographic region. Water quality monitoring is conducted in various sectors, including environmental monitoring, industrial processes, agriculture, and public health. The market size could range from local applications, such as monitoring a specific body of water, to larger-scale applications covering multiple regions or countries.</a:t>
                      </a:r>
                      <a:endParaRPr/>
                    </a:p>
                    <a:p>
                      <a:pPr indent="0" lvl="0" marL="0" marR="0" rtl="0" algn="l">
                        <a:spcBef>
                          <a:spcPts val="0"/>
                        </a:spcBef>
                        <a:spcAft>
                          <a:spcPts val="0"/>
                        </a:spcAft>
                        <a:buNone/>
                      </a:pPr>
                      <a:r>
                        <a:t/>
                      </a:r>
                      <a:endParaRPr b="0" i="0" sz="1800">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a:solidFill>
                            <a:schemeClr val="dk1"/>
                          </a:solidFill>
                          <a:latin typeface="Calibri"/>
                          <a:ea typeface="Calibri"/>
                          <a:cs typeface="Calibri"/>
                          <a:sym typeface="Calibri"/>
                        </a:rPr>
                        <a:t>Target Audience</a:t>
                      </a:r>
                      <a:r>
                        <a:rPr b="0" i="0" lang="en-US" sz="1800">
                          <a:solidFill>
                            <a:schemeClr val="dk1"/>
                          </a:solidFill>
                          <a:latin typeface="Calibri"/>
                          <a:ea typeface="Calibri"/>
                          <a:cs typeface="Calibri"/>
                          <a:sym typeface="Calibri"/>
                        </a:rPr>
                        <a:t>: The target audience for a project involving a boat with water quality sensors can be diverse and depend on the purpose of the monitoring. Potential stakeholders may include government agencies responsible for environmental regulation, water treatment facilities, research institutions, environmental consulting firms, and industries relying on clean water sources.</a:t>
                      </a:r>
                      <a:endParaRPr/>
                    </a:p>
                    <a:p>
                      <a:pPr indent="0" lvl="0" marL="0" marR="0" rtl="0" algn="l">
                        <a:spcBef>
                          <a:spcPts val="0"/>
                        </a:spcBef>
                        <a:spcAft>
                          <a:spcPts val="0"/>
                        </a:spcAft>
                        <a:buNone/>
                      </a:pPr>
                      <a:r>
                        <a:t/>
                      </a:r>
                      <a:endParaRPr b="0" i="0" sz="1800">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a:solidFill>
                            <a:schemeClr val="dk1"/>
                          </a:solidFill>
                          <a:latin typeface="Calibri"/>
                          <a:ea typeface="Calibri"/>
                          <a:cs typeface="Calibri"/>
                          <a:sym typeface="Calibri"/>
                        </a:rPr>
                        <a:t>Trends and Opportunities</a:t>
                      </a:r>
                      <a:r>
                        <a:rPr b="0" i="0" lang="en-US" sz="1800">
                          <a:solidFill>
                            <a:schemeClr val="dk1"/>
                          </a:solidFill>
                          <a:latin typeface="Calibri"/>
                          <a:ea typeface="Calibri"/>
                          <a:cs typeface="Calibri"/>
                          <a:sym typeface="Calibri"/>
                        </a:rPr>
                        <a:t>: There are several trends and opportunities that support the viability of a project focusing on water quality monitoring:</a:t>
                      </a:r>
                      <a:endParaRPr/>
                    </a:p>
                    <a:p>
                      <a:pPr indent="-342900" lvl="0" marL="342900" marR="0" rtl="0" algn="l">
                        <a:spcBef>
                          <a:spcPts val="0"/>
                        </a:spcBef>
                        <a:spcAft>
                          <a:spcPts val="0"/>
                        </a:spcAft>
                        <a:buClr>
                          <a:schemeClr val="dk1"/>
                        </a:buClr>
                        <a:buSzPts val="1800"/>
                        <a:buFont typeface="Calibri"/>
                        <a:buAutoNum type="arabicPeriod"/>
                      </a:pPr>
                      <a:r>
                        <a:rPr b="0" i="0" lang="en-US" sz="1800">
                          <a:solidFill>
                            <a:schemeClr val="dk1"/>
                          </a:solidFill>
                          <a:latin typeface="Calibri"/>
                          <a:ea typeface="Calibri"/>
                          <a:cs typeface="Calibri"/>
                          <a:sym typeface="Calibri"/>
                        </a:rPr>
                        <a:t>Increasing Environmental Concerns: Growing awareness about the importance of water quality and its impact on ecosystems, human health, and industries has led to an increased demand for monitoring solutions.</a:t>
                      </a:r>
                      <a:endParaRPr/>
                    </a:p>
                    <a:p>
                      <a:pPr indent="-342900" lvl="0" marL="342900" marR="0" rtl="0" algn="l">
                        <a:spcBef>
                          <a:spcPts val="0"/>
                        </a:spcBef>
                        <a:spcAft>
                          <a:spcPts val="0"/>
                        </a:spcAft>
                        <a:buClr>
                          <a:schemeClr val="dk1"/>
                        </a:buClr>
                        <a:buSzPts val="1800"/>
                        <a:buFont typeface="Calibri"/>
                        <a:buAutoNum type="arabicPeriod"/>
                      </a:pPr>
                      <a:r>
                        <a:rPr b="0" i="0" lang="en-US" sz="1800">
                          <a:solidFill>
                            <a:schemeClr val="dk1"/>
                          </a:solidFill>
                          <a:latin typeface="Calibri"/>
                          <a:ea typeface="Calibri"/>
                          <a:cs typeface="Calibri"/>
                          <a:sym typeface="Calibri"/>
                        </a:rPr>
                        <a:t>Regulatory Compliance: Governments and regulatory bodies worldwide are implementing stricter regulations and guidelines related to water quality. This creates opportunities for companies providing water monitoring solutions to help meet compliance requirements.</a:t>
                      </a:r>
                      <a:endParaRPr/>
                    </a:p>
                    <a:p>
                      <a:pPr indent="0" lvl="0" marL="0" marR="0" rtl="0" algn="l">
                        <a:spcBef>
                          <a:spcPts val="0"/>
                        </a:spcBef>
                        <a:spcAft>
                          <a:spcPts val="0"/>
                        </a:spcAft>
                        <a:buNone/>
                      </a:pPr>
                      <a:r>
                        <a:t/>
                      </a:r>
                      <a:endParaRPr b="0" i="0" sz="1800">
                        <a:solidFill>
                          <a:schemeClr val="dk1"/>
                        </a:solidFill>
                        <a:latin typeface="Calibri"/>
                        <a:ea typeface="Calibri"/>
                        <a:cs typeface="Calibri"/>
                        <a:sym typeface="Calibri"/>
                      </a:endParaRPr>
                    </a:p>
                    <a:p>
                      <a:pPr indent="0" lvl="0" marL="0" marR="0" rtl="1" algn="l">
                        <a:spcBef>
                          <a:spcPts val="0"/>
                        </a:spcBef>
                        <a:spcAft>
                          <a:spcPts val="0"/>
                        </a:spcAft>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19" name="Shape 119"/>
        <p:cNvGrpSpPr/>
        <p:nvPr/>
      </p:nvGrpSpPr>
      <p:grpSpPr>
        <a:xfrm>
          <a:off x="0" y="0"/>
          <a:ext cx="0" cy="0"/>
          <a:chOff x="0" y="0"/>
          <a:chExt cx="0" cy="0"/>
        </a:xfrm>
      </p:grpSpPr>
      <p:sp>
        <p:nvSpPr>
          <p:cNvPr id="120" name="Google Shape;120;p6"/>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6"/>
          <p:cNvSpPr txBox="1"/>
          <p:nvPr/>
        </p:nvSpPr>
        <p:spPr>
          <a:xfrm>
            <a:off x="3048000" y="120073"/>
            <a:ext cx="6096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sng" cap="none" strike="noStrike">
                <a:solidFill>
                  <a:schemeClr val="dk1"/>
                </a:solidFill>
                <a:latin typeface="Times New Roman"/>
                <a:ea typeface="Times New Roman"/>
                <a:cs typeface="Times New Roman"/>
                <a:sym typeface="Times New Roman"/>
              </a:rPr>
              <a:t>Business Plan</a:t>
            </a:r>
            <a:endParaRPr b="0" i="0" sz="3200" u="none" cap="none" strike="noStrike">
              <a:solidFill>
                <a:schemeClr val="dk1"/>
              </a:solidFill>
              <a:latin typeface="Arial"/>
              <a:ea typeface="Arial"/>
              <a:cs typeface="Arial"/>
              <a:sym typeface="Arial"/>
            </a:endParaRPr>
          </a:p>
        </p:txBody>
      </p:sp>
      <p:graphicFrame>
        <p:nvGraphicFramePr>
          <p:cNvPr id="122" name="Google Shape;122;p6"/>
          <p:cNvGraphicFramePr/>
          <p:nvPr/>
        </p:nvGraphicFramePr>
        <p:xfrm>
          <a:off x="445049" y="606684"/>
          <a:ext cx="3000000" cy="3000000"/>
        </p:xfrm>
        <a:graphic>
          <a:graphicData uri="http://schemas.openxmlformats.org/drawingml/2006/table">
            <a:tbl>
              <a:tblPr bandRow="1" firstRow="1">
                <a:noFill/>
                <a:tableStyleId>{99D8455E-7A12-4B3C-AA80-D5E178C19C4D}</a:tableStyleId>
              </a:tblPr>
              <a:tblGrid>
                <a:gridCol w="11674775"/>
              </a:tblGrid>
              <a:tr h="509100">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Financial Projections </a:t>
                      </a:r>
                      <a:r>
                        <a:rPr b="1" lang="en-US" sz="1200">
                          <a:solidFill>
                            <a:schemeClr val="lt1"/>
                          </a:solidFill>
                          <a:latin typeface="Calibri"/>
                          <a:ea typeface="Calibri"/>
                          <a:cs typeface="Calibri"/>
                          <a:sym typeface="Calibri"/>
                        </a:rPr>
                        <a:t>Financial Goals - Budget in Detail - Future Plans</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5622150">
                <a:tc>
                  <a:txBody>
                    <a:bodyPr/>
                    <a:lstStyle/>
                    <a:p>
                      <a:pPr indent="0" lvl="0" marL="0" marR="0" rtl="0" algn="l">
                        <a:spcBef>
                          <a:spcPts val="0"/>
                        </a:spcBef>
                        <a:spcAft>
                          <a:spcPts val="0"/>
                        </a:spcAft>
                        <a:buNone/>
                      </a:pPr>
                      <a:r>
                        <a:rPr b="1" i="0" lang="en-US" sz="1800">
                          <a:solidFill>
                            <a:schemeClr val="dk1"/>
                          </a:solidFill>
                          <a:latin typeface="Calibri"/>
                          <a:ea typeface="Calibri"/>
                          <a:cs typeface="Calibri"/>
                          <a:sym typeface="Calibri"/>
                        </a:rPr>
                        <a:t>Financial Goals</a:t>
                      </a:r>
                      <a:r>
                        <a:rPr b="0" i="0"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b="0" i="0" lang="en-US" sz="1800">
                          <a:solidFill>
                            <a:schemeClr val="dk1"/>
                          </a:solidFill>
                          <a:latin typeface="Calibri"/>
                          <a:ea typeface="Calibri"/>
                          <a:cs typeface="Calibri"/>
                          <a:sym typeface="Calibri"/>
                        </a:rPr>
                        <a:t>covering the initial investment, maintaining and upgrading sensor equipment, funding ongoing operational expenses, and ensuring long-term sustainability.</a:t>
                      </a:r>
                      <a:endParaRPr/>
                    </a:p>
                    <a:p>
                      <a:pPr indent="0" lvl="0" marL="0" marR="0" rtl="0" algn="l">
                        <a:spcBef>
                          <a:spcPts val="0"/>
                        </a:spcBef>
                        <a:spcAft>
                          <a:spcPts val="0"/>
                        </a:spcAft>
                        <a:buNone/>
                      </a:pPr>
                      <a:r>
                        <a:rPr b="0" i="0" lang="en-US" sz="1800">
                          <a:solidFill>
                            <a:schemeClr val="dk1"/>
                          </a:solidFill>
                          <a:latin typeface="Calibri"/>
                          <a:ea typeface="Calibri"/>
                          <a:cs typeface="Calibri"/>
                          <a:sym typeface="Calibri"/>
                        </a:rPr>
                        <a:t>Define objectives related to revenue generation, if applicable, such as monetizing collected data or offering consulting services based on the insights obtained.</a:t>
                      </a:r>
                      <a:endParaRPr/>
                    </a:p>
                    <a:p>
                      <a:pPr indent="0" lvl="0" marL="0" marR="0" rtl="0" algn="l">
                        <a:spcBef>
                          <a:spcPts val="0"/>
                        </a:spcBef>
                        <a:spcAft>
                          <a:spcPts val="0"/>
                        </a:spcAft>
                        <a:buNone/>
                      </a:pPr>
                      <a:r>
                        <a:rPr b="0" i="0" lang="en-US" sz="1800">
                          <a:solidFill>
                            <a:schemeClr val="dk1"/>
                          </a:solidFill>
                          <a:latin typeface="Calibri"/>
                          <a:ea typeface="Calibri"/>
                          <a:cs typeface="Calibri"/>
                          <a:sym typeface="Calibri"/>
                        </a:rPr>
                        <a:t>Consider long-term financial goals beyond the project, such as saving for future expansions or diversifying revenue streams.</a:t>
                      </a:r>
                      <a:endParaRPr/>
                    </a:p>
                    <a:p>
                      <a:pPr indent="0" lvl="0" marL="0" marR="0" rtl="1" algn="l">
                        <a:spcBef>
                          <a:spcPts val="0"/>
                        </a:spcBef>
                        <a:spcAft>
                          <a:spcPts val="0"/>
                        </a:spcAft>
                        <a:buNone/>
                      </a:pPr>
                      <a:r>
                        <a:rPr b="1" lang="en-US" sz="1800">
                          <a:solidFill>
                            <a:schemeClr val="dk1"/>
                          </a:solidFill>
                        </a:rPr>
                        <a:t>Budget in details:</a:t>
                      </a:r>
                      <a:endParaRPr b="1"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23" name="Google Shape;123;p6"/>
          <p:cNvPicPr preferRelativeResize="0"/>
          <p:nvPr/>
        </p:nvPicPr>
        <p:blipFill rotWithShape="1">
          <a:blip r:embed="rId4">
            <a:alphaModFix/>
          </a:blip>
          <a:srcRect b="0" l="0" r="0" t="0"/>
          <a:stretch/>
        </p:blipFill>
        <p:spPr>
          <a:xfrm>
            <a:off x="445049" y="3036163"/>
            <a:ext cx="11557560" cy="36220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7"/>
          <p:cNvSpPr txBox="1"/>
          <p:nvPr/>
        </p:nvSpPr>
        <p:spPr>
          <a:xfrm>
            <a:off x="3048000" y="120073"/>
            <a:ext cx="6096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sng" cap="none" strike="noStrike">
                <a:solidFill>
                  <a:schemeClr val="dk1"/>
                </a:solidFill>
                <a:latin typeface="Times New Roman"/>
                <a:ea typeface="Times New Roman"/>
                <a:cs typeface="Times New Roman"/>
                <a:sym typeface="Times New Roman"/>
              </a:rPr>
              <a:t>Business Plan</a:t>
            </a:r>
            <a:endParaRPr b="0" i="0" sz="3200" u="none" cap="none" strike="noStrike">
              <a:solidFill>
                <a:schemeClr val="dk1"/>
              </a:solidFill>
              <a:latin typeface="Arial"/>
              <a:ea typeface="Arial"/>
              <a:cs typeface="Arial"/>
              <a:sym typeface="Arial"/>
            </a:endParaRPr>
          </a:p>
        </p:txBody>
      </p:sp>
      <p:graphicFrame>
        <p:nvGraphicFramePr>
          <p:cNvPr id="130" name="Google Shape;130;p7"/>
          <p:cNvGraphicFramePr/>
          <p:nvPr/>
        </p:nvGraphicFramePr>
        <p:xfrm>
          <a:off x="445049" y="3595342"/>
          <a:ext cx="3000000" cy="3000000"/>
        </p:xfrm>
        <a:graphic>
          <a:graphicData uri="http://schemas.openxmlformats.org/drawingml/2006/table">
            <a:tbl>
              <a:tblPr bandRow="1" firstRow="1">
                <a:noFill/>
                <a:tableStyleId>{99D8455E-7A12-4B3C-AA80-D5E178C19C4D}</a:tableStyleId>
              </a:tblPr>
              <a:tblGrid>
                <a:gridCol w="11674775"/>
              </a:tblGrid>
              <a:tr h="474300">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Comparison to Competitors </a:t>
                      </a:r>
                      <a:r>
                        <a:rPr b="1" lang="en-US" sz="1200">
                          <a:solidFill>
                            <a:schemeClr val="lt1"/>
                          </a:solidFill>
                          <a:latin typeface="Calibri"/>
                          <a:ea typeface="Calibri"/>
                          <a:cs typeface="Calibri"/>
                          <a:sym typeface="Calibri"/>
                        </a:rPr>
                        <a:t>What differentiates your solution from other Competitors and mention aspects</a:t>
                      </a:r>
                      <a:endParaRPr b="1" sz="1200">
                        <a:solidFill>
                          <a:schemeClr val="lt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34975">
                <a:tc>
                  <a:txBody>
                    <a:bodyPr/>
                    <a:lstStyle/>
                    <a:p>
                      <a:pPr indent="0" lvl="0" marL="0" marR="0" rtl="0" algn="l">
                        <a:spcBef>
                          <a:spcPts val="0"/>
                        </a:spcBef>
                        <a:spcAft>
                          <a:spcPts val="0"/>
                        </a:spcAft>
                        <a:buNone/>
                      </a:pPr>
                      <a:r>
                        <a:rPr b="0" i="0" lang="en-US" sz="1800" u="none" strike="noStrike">
                          <a:solidFill>
                            <a:schemeClr val="dk1"/>
                          </a:solidFill>
                          <a:latin typeface="Calibri"/>
                          <a:ea typeface="Calibri"/>
                          <a:cs typeface="Calibri"/>
                          <a:sym typeface="Calibri"/>
                        </a:rPr>
                        <a:t>Traditionally, water quality monitoring relies on manual systems of data collection sampling. Sensors are placed at stations to record data, with a sample taken from each and sent to a laboratory for analysis. It is time consuming, costly and inefficient, creating difficult conditions to compare or assess the various water quality parameters.</a:t>
                      </a:r>
                      <a:endParaRPr b="0" sz="1800"/>
                    </a:p>
                    <a:p>
                      <a:pPr indent="0" lvl="0" marL="0" marR="0" rtl="0" algn="l">
                        <a:spcBef>
                          <a:spcPts val="0"/>
                        </a:spcBef>
                        <a:spcAft>
                          <a:spcPts val="0"/>
                        </a:spcAft>
                        <a:buNone/>
                      </a:pPr>
                      <a:br>
                        <a:rPr b="0" lang="en-US" sz="1800"/>
                      </a:br>
                      <a:r>
                        <a:rPr b="0" i="0" lang="en-US" sz="1800" u="none" strike="noStrike">
                          <a:solidFill>
                            <a:schemeClr val="dk1"/>
                          </a:solidFill>
                          <a:latin typeface="Calibri"/>
                          <a:ea typeface="Calibri"/>
                          <a:cs typeface="Calibri"/>
                          <a:sym typeface="Calibri"/>
                        </a:rPr>
                        <a:t>Another way to monitor called regional approach used to monitor individual lakes and rivers instead of building station, this way takes  sample of water and send to laboratory, this way still slow and can’t recognize the emergency quickly.</a:t>
                      </a:r>
                      <a:endParaRPr b="0" sz="1800"/>
                    </a:p>
                    <a:p>
                      <a:pPr indent="0" lvl="0" marL="0" marR="0" rtl="0" algn="l">
                        <a:spcBef>
                          <a:spcPts val="0"/>
                        </a:spcBef>
                        <a:spcAft>
                          <a:spcPts val="0"/>
                        </a:spcAft>
                        <a:buNone/>
                      </a:pPr>
                      <a:br>
                        <a:rPr lang="en-US" sz="1800"/>
                      </a:b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31" name="Google Shape;131;p7"/>
          <p:cNvGraphicFramePr/>
          <p:nvPr/>
        </p:nvGraphicFramePr>
        <p:xfrm>
          <a:off x="445049" y="824922"/>
          <a:ext cx="3000000" cy="3000000"/>
        </p:xfrm>
        <a:graphic>
          <a:graphicData uri="http://schemas.openxmlformats.org/drawingml/2006/table">
            <a:tbl>
              <a:tblPr>
                <a:noFill/>
                <a:tableStyleId>{01109B08-4BBC-4FC3-AF65-C67A81969127}</a:tableStyleId>
              </a:tblPr>
              <a:tblGrid>
                <a:gridCol w="11674775"/>
              </a:tblGrid>
              <a:tr h="2484000">
                <a:tc>
                  <a:txBody>
                    <a:bodyPr/>
                    <a:lstStyle/>
                    <a:p>
                      <a:pPr indent="0" lvl="0" marL="0" marR="0" rtl="0" algn="l">
                        <a:spcBef>
                          <a:spcPts val="0"/>
                        </a:spcBef>
                        <a:spcAft>
                          <a:spcPts val="0"/>
                        </a:spcAft>
                        <a:buNone/>
                      </a:pPr>
                      <a:r>
                        <a:rPr b="1" lang="en-US" sz="1800"/>
                        <a:t>Future Plans:</a:t>
                      </a:r>
                      <a:endParaRPr/>
                    </a:p>
                    <a:p>
                      <a:pPr indent="0" lvl="0" marL="0" marR="0" rtl="0" algn="l">
                        <a:spcBef>
                          <a:spcPts val="0"/>
                        </a:spcBef>
                        <a:spcAft>
                          <a:spcPts val="0"/>
                        </a:spcAft>
                        <a:buNone/>
                      </a:pPr>
                      <a:r>
                        <a:rPr lang="en-US" sz="1800"/>
                        <a:t>-Add other sensors which will make the result more accurate, hence classification range increase, serve more sorts of customers and that will lead to more revenue.</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-Add more boats so the range of services will be larger.</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t>-Replace communication component with communication component cover more range.</a:t>
                      </a:r>
                      <a:endParaRPr/>
                    </a:p>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35" name="Shape 135"/>
        <p:cNvGrpSpPr/>
        <p:nvPr/>
      </p:nvGrpSpPr>
      <p:grpSpPr>
        <a:xfrm>
          <a:off x="0" y="0"/>
          <a:ext cx="0" cy="0"/>
          <a:chOff x="0" y="0"/>
          <a:chExt cx="0" cy="0"/>
        </a:xfrm>
      </p:grpSpPr>
      <p:sp>
        <p:nvSpPr>
          <p:cNvPr id="136" name="Google Shape;136;p8"/>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137" name="Google Shape;137;p8"/>
          <p:cNvGraphicFramePr/>
          <p:nvPr/>
        </p:nvGraphicFramePr>
        <p:xfrm>
          <a:off x="0" y="120073"/>
          <a:ext cx="3000000" cy="3000000"/>
        </p:xfrm>
        <a:graphic>
          <a:graphicData uri="http://schemas.openxmlformats.org/drawingml/2006/table">
            <a:tbl>
              <a:tblPr>
                <a:noFill/>
                <a:tableStyleId>{99D8455E-7A12-4B3C-AA80-D5E178C19C4D}</a:tableStyleId>
              </a:tblPr>
              <a:tblGrid>
                <a:gridCol w="1651000"/>
                <a:gridCol w="1816100"/>
                <a:gridCol w="2590800"/>
                <a:gridCol w="2211275"/>
                <a:gridCol w="3922825"/>
              </a:tblGrid>
              <a:tr h="342900">
                <a:tc gridSpan="3">
                  <a:txBody>
                    <a:bodyPr/>
                    <a:lstStyle/>
                    <a:p>
                      <a:pPr indent="0" lvl="0" marL="0" marR="0" rtl="0" algn="l">
                        <a:lnSpc>
                          <a:spcPct val="100000"/>
                        </a:lnSpc>
                        <a:spcBef>
                          <a:spcPts val="0"/>
                        </a:spcBef>
                        <a:spcAft>
                          <a:spcPts val="0"/>
                        </a:spcAft>
                        <a:buNone/>
                      </a:pPr>
                      <a:r>
                        <a:rPr b="1" lang="en-US" sz="1200">
                          <a:latin typeface="Poppins"/>
                          <a:ea typeface="Poppins"/>
                          <a:cs typeface="Poppins"/>
                          <a:sym typeface="Poppins"/>
                        </a:rPr>
                        <a:t> Business Model Canvas</a:t>
                      </a:r>
                      <a:endParaRPr b="1" sz="1200">
                        <a:latin typeface="Poppins"/>
                        <a:ea typeface="Poppins"/>
                        <a:cs typeface="Poppins"/>
                        <a:sym typeface="Poppins"/>
                      </a:endParaRPr>
                    </a:p>
                  </a:txBody>
                  <a:tcPr marT="62525" marB="62525" marR="75025" marL="62525">
                    <a:solidFill>
                      <a:srgbClr val="BBD6EE"/>
                    </a:solidFill>
                  </a:tcPr>
                </a:tc>
                <a:tc hMerge="1"/>
                <a:tc hMerge="1"/>
                <a:tc gridSpan="2">
                  <a:txBody>
                    <a:bodyPr/>
                    <a:lstStyle/>
                    <a:p>
                      <a:pPr indent="0" lvl="0" marL="25400" marR="0" rtl="0" algn="l">
                        <a:lnSpc>
                          <a:spcPct val="100000"/>
                        </a:lnSpc>
                        <a:spcBef>
                          <a:spcPts val="0"/>
                        </a:spcBef>
                        <a:spcAft>
                          <a:spcPts val="0"/>
                        </a:spcAft>
                        <a:buNone/>
                      </a:pPr>
                      <a:r>
                        <a:rPr b="1" lang="en-US" sz="1200">
                          <a:latin typeface="Poppins"/>
                          <a:ea typeface="Poppins"/>
                          <a:cs typeface="Poppins"/>
                          <a:sym typeface="Poppins"/>
                        </a:rPr>
                        <a:t>Team: ASWQM</a:t>
                      </a:r>
                      <a:endParaRPr b="1" sz="1200">
                        <a:latin typeface="Poppins"/>
                        <a:ea typeface="Poppins"/>
                        <a:cs typeface="Poppins"/>
                        <a:sym typeface="Poppins"/>
                      </a:endParaRPr>
                    </a:p>
                  </a:txBody>
                  <a:tcPr marT="62525" marB="62525" marR="75025" marL="62525" anchor="b">
                    <a:solidFill>
                      <a:srgbClr val="BBD6EE"/>
                    </a:solidFill>
                  </a:tcPr>
                </a:tc>
                <a:tc hMerge="1"/>
              </a:tr>
              <a:tr h="1321575">
                <a:tc rowSpan="3">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Key Partners</a:t>
                      </a:r>
                      <a:endParaRPr sz="1200">
                        <a:latin typeface="Poppins"/>
                        <a:ea typeface="Poppins"/>
                        <a:cs typeface="Poppins"/>
                        <a:sym typeface="Poppins"/>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1- Sensor Manufacturers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2-Technology Providers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3- Water Quality Monitoring Stations</a:t>
                      </a:r>
                      <a:endParaRPr/>
                    </a:p>
                    <a:p>
                      <a:pPr indent="0" lvl="0" marL="63500" marR="0" rtl="0" algn="l">
                        <a:lnSpc>
                          <a:spcPct val="100000"/>
                        </a:lnSpc>
                        <a:spcBef>
                          <a:spcPts val="2400"/>
                        </a:spcBef>
                        <a:spcAft>
                          <a:spcPts val="0"/>
                        </a:spcAft>
                        <a:buClr>
                          <a:schemeClr val="dk1"/>
                        </a:buClr>
                        <a:buSzPts val="1200"/>
                        <a:buFont typeface="Poppins"/>
                        <a:buNone/>
                      </a:pPr>
                      <a:r>
                        <a:t/>
                      </a:r>
                      <a:endParaRPr sz="1200">
                        <a:latin typeface="Poppins"/>
                        <a:ea typeface="Poppins"/>
                        <a:cs typeface="Poppins"/>
                        <a:sym typeface="Poppins"/>
                      </a:endParaRPr>
                    </a:p>
                    <a:p>
                      <a:pPr indent="0" lvl="0" marL="63500" marR="0" rtl="0" algn="l">
                        <a:lnSpc>
                          <a:spcPct val="100000"/>
                        </a:lnSpc>
                        <a:spcBef>
                          <a:spcPts val="2400"/>
                        </a:spcBef>
                        <a:spcAft>
                          <a:spcPts val="0"/>
                        </a:spcAft>
                        <a:buNone/>
                      </a:pPr>
                      <a:r>
                        <a:t/>
                      </a:r>
                      <a:endParaRPr sz="1200">
                        <a:latin typeface="Poppins"/>
                        <a:ea typeface="Poppins"/>
                        <a:cs typeface="Poppins"/>
                        <a:sym typeface="Poppins"/>
                      </a:endParaRPr>
                    </a:p>
                  </a:txBody>
                  <a:tcPr marT="62525" marB="62525" marR="75025" marL="62525">
                    <a:solidFill>
                      <a:srgbClr val="DDEAF6"/>
                    </a:solidFill>
                  </a:tcPr>
                </a:tc>
                <a:tc rowSpan="2">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Key Activities</a:t>
                      </a:r>
                      <a:endParaRPr/>
                    </a:p>
                    <a:p>
                      <a:pPr indent="0" lvl="0" marL="63500" marR="0" rtl="0" algn="l">
                        <a:lnSpc>
                          <a:spcPct val="100000"/>
                        </a:lnSpc>
                        <a:spcBef>
                          <a:spcPts val="2400"/>
                        </a:spcBef>
                        <a:spcAft>
                          <a:spcPts val="0"/>
                        </a:spcAft>
                        <a:buNone/>
                      </a:pPr>
                      <a:r>
                        <a:rPr lang="en-US" sz="1200">
                          <a:latin typeface="Poppins"/>
                          <a:ea typeface="Poppins"/>
                          <a:cs typeface="Poppins"/>
                          <a:sym typeface="Poppins"/>
                        </a:rPr>
                        <a:t> 1- </a:t>
                      </a:r>
                      <a:r>
                        <a:rPr b="0" i="0" lang="en-US" sz="1200">
                          <a:solidFill>
                            <a:schemeClr val="dk1"/>
                          </a:solidFill>
                          <a:latin typeface="Calibri"/>
                          <a:ea typeface="Calibri"/>
                          <a:cs typeface="Calibri"/>
                          <a:sym typeface="Calibri"/>
                        </a:rPr>
                        <a:t>Hardware Development</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2-Software Development</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3-Data Transmission &amp; Analysis</a:t>
                      </a:r>
                      <a:endParaRPr/>
                    </a:p>
                    <a:p>
                      <a:pPr indent="0" lvl="0" marL="63500" marR="0" rtl="0" algn="l">
                        <a:lnSpc>
                          <a:spcPct val="100000"/>
                        </a:lnSpc>
                        <a:spcBef>
                          <a:spcPts val="2400"/>
                        </a:spcBef>
                        <a:spcAft>
                          <a:spcPts val="0"/>
                        </a:spcAft>
                        <a:buNone/>
                      </a:pPr>
                      <a:r>
                        <a:t/>
                      </a:r>
                      <a:endParaRPr sz="1200">
                        <a:latin typeface="Poppins"/>
                        <a:ea typeface="Poppins"/>
                        <a:cs typeface="Poppins"/>
                        <a:sym typeface="Poppins"/>
                      </a:endParaRPr>
                    </a:p>
                  </a:txBody>
                  <a:tcPr marT="62525" marB="62525" marR="75025" marL="62525">
                    <a:solidFill>
                      <a:srgbClr val="DDEAF6"/>
                    </a:solidFill>
                  </a:tcPr>
                </a:tc>
                <a:tc rowSpan="3">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Value Propositions</a:t>
                      </a:r>
                      <a:r>
                        <a:rPr lang="en-US" sz="1200">
                          <a:latin typeface="Poppins"/>
                          <a:ea typeface="Poppins"/>
                          <a:cs typeface="Poppins"/>
                          <a:sym typeface="Poppins"/>
                        </a:rPr>
                        <a:t> </a:t>
                      </a:r>
                      <a:endParaRPr/>
                    </a:p>
                    <a:p>
                      <a:pPr indent="0" lvl="0" marL="63500" marR="0" rtl="0" algn="l">
                        <a:lnSpc>
                          <a:spcPct val="100000"/>
                        </a:lnSpc>
                        <a:spcBef>
                          <a:spcPts val="2400"/>
                        </a:spcBef>
                        <a:spcAft>
                          <a:spcPts val="0"/>
                        </a:spcAft>
                        <a:buNone/>
                      </a:pPr>
                      <a:r>
                        <a:rPr lang="en-US" sz="1200">
                          <a:latin typeface="Poppins"/>
                          <a:ea typeface="Poppins"/>
                          <a:cs typeface="Poppins"/>
                          <a:sym typeface="Poppins"/>
                        </a:rPr>
                        <a:t>-</a:t>
                      </a:r>
                      <a:r>
                        <a:rPr b="0" i="0" lang="en-US" sz="1200">
                          <a:solidFill>
                            <a:schemeClr val="dk1"/>
                          </a:solidFill>
                          <a:latin typeface="Calibri"/>
                          <a:ea typeface="Calibri"/>
                          <a:cs typeface="Calibri"/>
                          <a:sym typeface="Calibri"/>
                        </a:rPr>
                        <a:t>Advanced Water Quality Monitoring</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-Remote Monitoring and Control</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-Cost-Effective Solution</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-User friendly Visualization</a:t>
                      </a:r>
                      <a:endParaRPr sz="1200">
                        <a:latin typeface="Poppins"/>
                        <a:ea typeface="Poppins"/>
                        <a:cs typeface="Poppins"/>
                        <a:sym typeface="Poppins"/>
                      </a:endParaRPr>
                    </a:p>
                  </a:txBody>
                  <a:tcPr marT="62525" marB="62525" marR="75025" marL="62525">
                    <a:solidFill>
                      <a:srgbClr val="DDEAF6"/>
                    </a:solidFill>
                  </a:tcPr>
                </a:tc>
                <a:tc>
                  <a:txBody>
                    <a:bodyPr/>
                    <a:lstStyle/>
                    <a:p>
                      <a:pPr indent="0" lvl="0" marL="0" marR="0" rtl="1" algn="l">
                        <a:lnSpc>
                          <a:spcPct val="100000"/>
                        </a:lnSpc>
                        <a:spcBef>
                          <a:spcPts val="0"/>
                        </a:spcBef>
                        <a:spcAft>
                          <a:spcPts val="0"/>
                        </a:spcAft>
                        <a:buNone/>
                      </a:pPr>
                      <a:r>
                        <a:rPr b="1" lang="en-US" sz="1200">
                          <a:latin typeface="Poppins"/>
                          <a:ea typeface="Poppins"/>
                          <a:cs typeface="Poppins"/>
                          <a:sym typeface="Poppins"/>
                        </a:rPr>
                        <a:t>Customer Relationships</a:t>
                      </a:r>
                      <a:endParaRPr/>
                    </a:p>
                    <a:p>
                      <a:pPr indent="0" lvl="0" marL="63500" marR="0" rtl="0" algn="l">
                        <a:lnSpc>
                          <a:spcPct val="100000"/>
                        </a:lnSpc>
                        <a:spcBef>
                          <a:spcPts val="1200"/>
                        </a:spcBef>
                        <a:spcAft>
                          <a:spcPts val="0"/>
                        </a:spcAft>
                        <a:buNone/>
                      </a:pPr>
                      <a:r>
                        <a:rPr lang="en-US" sz="1200">
                          <a:latin typeface="Poppins"/>
                          <a:ea typeface="Poppins"/>
                          <a:cs typeface="Poppins"/>
                          <a:sym typeface="Poppins"/>
                        </a:rPr>
                        <a:t> -</a:t>
                      </a:r>
                      <a:r>
                        <a:rPr b="0" i="0" lang="en-US" sz="1200">
                          <a:solidFill>
                            <a:schemeClr val="dk1"/>
                          </a:solidFill>
                          <a:latin typeface="Calibri"/>
                          <a:ea typeface="Calibri"/>
                          <a:cs typeface="Calibri"/>
                          <a:sym typeface="Calibri"/>
                        </a:rPr>
                        <a:t>Consultative Approach</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-Ongoing Support</a:t>
                      </a:r>
                      <a:endParaRPr sz="1200">
                        <a:latin typeface="Poppins"/>
                        <a:ea typeface="Poppins"/>
                        <a:cs typeface="Poppins"/>
                        <a:sym typeface="Poppins"/>
                      </a:endParaRPr>
                    </a:p>
                  </a:txBody>
                  <a:tcPr marT="62525" marB="62525" marR="75025" marL="62525">
                    <a:solidFill>
                      <a:srgbClr val="DDEAF6"/>
                    </a:solidFill>
                  </a:tcPr>
                </a:tc>
                <a:tc rowSpan="3">
                  <a:txBody>
                    <a:bodyPr/>
                    <a:lstStyle/>
                    <a:p>
                      <a:pPr indent="0" lvl="0" marL="63500" marR="0" rtl="0" algn="l">
                        <a:lnSpc>
                          <a:spcPct val="100000"/>
                        </a:lnSpc>
                        <a:spcBef>
                          <a:spcPts val="0"/>
                        </a:spcBef>
                        <a:spcAft>
                          <a:spcPts val="0"/>
                        </a:spcAft>
                        <a:buNone/>
                      </a:pPr>
                      <a:r>
                        <a:rPr b="1" lang="en-US" sz="1200">
                          <a:latin typeface="Calibri"/>
                          <a:ea typeface="Calibri"/>
                          <a:cs typeface="Calibri"/>
                          <a:sym typeface="Calibri"/>
                        </a:rPr>
                        <a:t>Customer Segments</a:t>
                      </a:r>
                      <a:endParaRPr/>
                    </a:p>
                    <a:p>
                      <a:pPr indent="0" lvl="0" marL="63500" marR="0" rtl="0" algn="l">
                        <a:lnSpc>
                          <a:spcPct val="100000"/>
                        </a:lnSpc>
                        <a:spcBef>
                          <a:spcPts val="2400"/>
                        </a:spcBef>
                        <a:spcAft>
                          <a:spcPts val="0"/>
                        </a:spcAft>
                        <a:buNone/>
                      </a:pPr>
                      <a:r>
                        <a:rPr lang="en-US" sz="1200">
                          <a:latin typeface="Calibri"/>
                          <a:ea typeface="Calibri"/>
                          <a:cs typeface="Calibri"/>
                          <a:sym typeface="Calibri"/>
                        </a:rPr>
                        <a:t>1-</a:t>
                      </a:r>
                      <a:r>
                        <a:rPr b="0" i="0" lang="en-US" sz="1200">
                          <a:solidFill>
                            <a:schemeClr val="dk1"/>
                          </a:solidFill>
                          <a:latin typeface="Calibri"/>
                          <a:ea typeface="Calibri"/>
                          <a:cs typeface="Calibri"/>
                          <a:sym typeface="Calibri"/>
                        </a:rPr>
                        <a:t>Environmental Agencies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2-Households </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3-Businesses </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4-Water Resource Managers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5-Research Institutions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6- Environmental Minstry</a:t>
                      </a:r>
                      <a:endParaRPr sz="1200">
                        <a:latin typeface="Calibri"/>
                        <a:ea typeface="Calibri"/>
                        <a:cs typeface="Calibri"/>
                        <a:sym typeface="Calibri"/>
                      </a:endParaRPr>
                    </a:p>
                  </a:txBody>
                  <a:tcPr marT="62525" marB="62525" marR="75025" marL="62525">
                    <a:solidFill>
                      <a:srgbClr val="DDEAF6"/>
                    </a:solidFill>
                  </a:tcPr>
                </a:tc>
              </a:tr>
              <a:tr h="1601050">
                <a:tc vMerge="1"/>
                <a:tc vMerge="1"/>
                <a:tc vMerge="1"/>
                <a:tc rowSpan="2">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Channels</a:t>
                      </a:r>
                      <a:endParaRPr/>
                    </a:p>
                    <a:p>
                      <a:pPr indent="0" lvl="0" marL="63500" marR="0" rtl="0" algn="l">
                        <a:lnSpc>
                          <a:spcPct val="100000"/>
                        </a:lnSpc>
                        <a:spcBef>
                          <a:spcPts val="2400"/>
                        </a:spcBef>
                        <a:spcAft>
                          <a:spcPts val="0"/>
                        </a:spcAft>
                        <a:buNone/>
                      </a:pPr>
                      <a:r>
                        <a:rPr lang="en-US" sz="1200">
                          <a:latin typeface="Poppins"/>
                          <a:ea typeface="Poppins"/>
                          <a:cs typeface="Poppins"/>
                          <a:sym typeface="Poppins"/>
                        </a:rPr>
                        <a:t> -</a:t>
                      </a:r>
                      <a:r>
                        <a:rPr b="0" i="0" lang="en-US" sz="1200">
                          <a:solidFill>
                            <a:schemeClr val="dk1"/>
                          </a:solidFill>
                          <a:latin typeface="Calibri"/>
                          <a:ea typeface="Calibri"/>
                          <a:cs typeface="Calibri"/>
                          <a:sym typeface="Calibri"/>
                        </a:rPr>
                        <a:t>Direct Sales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-Boat Booking</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-Online Platforms(Mobile apps)</a:t>
                      </a:r>
                      <a:endParaRPr sz="1200">
                        <a:latin typeface="Poppins"/>
                        <a:ea typeface="Poppins"/>
                        <a:cs typeface="Poppins"/>
                        <a:sym typeface="Poppins"/>
                      </a:endParaRPr>
                    </a:p>
                  </a:txBody>
                  <a:tcPr marT="62525" marB="62525" marR="75025" marL="62525">
                    <a:solidFill>
                      <a:srgbClr val="DDEAF6"/>
                    </a:solidFill>
                  </a:tcPr>
                </a:tc>
                <a:tc vMerge="1"/>
              </a:tr>
              <a:tr h="1474900">
                <a:tc vMerge="1"/>
                <a:tc>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Key Resources </a:t>
                      </a:r>
                      <a:endParaRPr/>
                    </a:p>
                    <a:p>
                      <a:pPr indent="0" lvl="0" marL="63500" marR="0" rtl="0" algn="l">
                        <a:lnSpc>
                          <a:spcPct val="100000"/>
                        </a:lnSpc>
                        <a:spcBef>
                          <a:spcPts val="2400"/>
                        </a:spcBef>
                        <a:spcAft>
                          <a:spcPts val="0"/>
                        </a:spcAft>
                        <a:buNone/>
                      </a:pPr>
                      <a:r>
                        <a:rPr b="0" lang="en-US" sz="1200">
                          <a:latin typeface="Poppins"/>
                          <a:ea typeface="Poppins"/>
                          <a:cs typeface="Poppins"/>
                          <a:sym typeface="Poppins"/>
                        </a:rPr>
                        <a:t>-</a:t>
                      </a:r>
                      <a:r>
                        <a:rPr b="0" i="0" lang="en-US" sz="1200">
                          <a:solidFill>
                            <a:schemeClr val="dk1"/>
                          </a:solidFill>
                          <a:latin typeface="Calibri"/>
                          <a:ea typeface="Calibri"/>
                          <a:cs typeface="Calibri"/>
                          <a:sym typeface="Calibri"/>
                        </a:rPr>
                        <a:t>Hardware Components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-Software Systems</a:t>
                      </a:r>
                      <a:endParaRPr sz="1200">
                        <a:latin typeface="Calibri"/>
                        <a:ea typeface="Calibri"/>
                        <a:cs typeface="Calibri"/>
                        <a:sym typeface="Calibri"/>
                      </a:endParaRPr>
                    </a:p>
                  </a:txBody>
                  <a:tcPr marT="62525" marB="62525" marR="75025" marL="62525">
                    <a:solidFill>
                      <a:srgbClr val="DDEAF6"/>
                    </a:solidFill>
                  </a:tcPr>
                </a:tc>
                <a:tc vMerge="1"/>
                <a:tc vMerge="1"/>
                <a:tc vMerge="1"/>
              </a:tr>
              <a:tr h="1997525">
                <a:tc gridSpan="3">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Cost Structure</a:t>
                      </a:r>
                      <a:endParaRPr/>
                    </a:p>
                    <a:p>
                      <a:pPr indent="0" lvl="0" marL="63500" marR="0" rtl="0" algn="l">
                        <a:lnSpc>
                          <a:spcPct val="100000"/>
                        </a:lnSpc>
                        <a:spcBef>
                          <a:spcPts val="2400"/>
                        </a:spcBef>
                        <a:spcAft>
                          <a:spcPts val="0"/>
                        </a:spcAft>
                        <a:buNone/>
                      </a:pPr>
                      <a:r>
                        <a:rPr lang="en-US" sz="1200">
                          <a:latin typeface="Poppins"/>
                          <a:ea typeface="Poppins"/>
                          <a:cs typeface="Poppins"/>
                          <a:sym typeface="Poppins"/>
                        </a:rPr>
                        <a:t>  -</a:t>
                      </a:r>
                      <a:r>
                        <a:rPr b="0" i="0" lang="en-US" sz="1200">
                          <a:solidFill>
                            <a:schemeClr val="dk1"/>
                          </a:solidFill>
                          <a:latin typeface="Calibri"/>
                          <a:ea typeface="Calibri"/>
                          <a:cs typeface="Calibri"/>
                          <a:sym typeface="Calibri"/>
                        </a:rPr>
                        <a:t>Component Costs         -Operations and Maintenance costs </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-Technical work costs        -Research and Development</a:t>
                      </a:r>
                      <a:endParaRPr sz="1200">
                        <a:latin typeface="Poppins"/>
                        <a:ea typeface="Poppins"/>
                        <a:cs typeface="Poppins"/>
                        <a:sym typeface="Poppins"/>
                      </a:endParaRPr>
                    </a:p>
                  </a:txBody>
                  <a:tcPr marT="62525" marB="62525" marR="75025" marL="62525">
                    <a:solidFill>
                      <a:srgbClr val="DDEAF6"/>
                    </a:solidFill>
                  </a:tcPr>
                </a:tc>
                <a:tc hMerge="1"/>
                <a:tc hMerge="1"/>
                <a:tc gridSpan="2">
                  <a:txBody>
                    <a:bodyPr/>
                    <a:lstStyle/>
                    <a:p>
                      <a:pPr indent="0" lvl="0" marL="63500" marR="0" rtl="0" algn="l">
                        <a:lnSpc>
                          <a:spcPct val="100000"/>
                        </a:lnSpc>
                        <a:spcBef>
                          <a:spcPts val="0"/>
                        </a:spcBef>
                        <a:spcAft>
                          <a:spcPts val="0"/>
                        </a:spcAft>
                        <a:buNone/>
                      </a:pPr>
                      <a:r>
                        <a:rPr b="1" lang="en-US" sz="1200">
                          <a:latin typeface="Poppins"/>
                          <a:ea typeface="Poppins"/>
                          <a:cs typeface="Poppins"/>
                          <a:sym typeface="Poppins"/>
                        </a:rPr>
                        <a:t>Revenue Streams</a:t>
                      </a:r>
                      <a:endParaRPr/>
                    </a:p>
                    <a:p>
                      <a:pPr indent="0" lvl="0" marL="63500" marR="0" rtl="0" algn="l">
                        <a:lnSpc>
                          <a:spcPct val="100000"/>
                        </a:lnSpc>
                        <a:spcBef>
                          <a:spcPts val="2400"/>
                        </a:spcBef>
                        <a:spcAft>
                          <a:spcPts val="0"/>
                        </a:spcAft>
                        <a:buNone/>
                      </a:pPr>
                      <a:r>
                        <a:rPr b="0" i="0" lang="en-US" sz="1200">
                          <a:solidFill>
                            <a:schemeClr val="dk1"/>
                          </a:solidFill>
                          <a:latin typeface="Calibri"/>
                          <a:ea typeface="Calibri"/>
                          <a:cs typeface="Calibri"/>
                          <a:sym typeface="Calibri"/>
                        </a:rPr>
                        <a:t>-Product Sales             -Boat Booking</a:t>
                      </a:r>
                      <a:endParaRPr/>
                    </a:p>
                    <a:p>
                      <a:pPr indent="0" lvl="0" marL="63500" marR="0" rtl="0" algn="l">
                        <a:lnSpc>
                          <a:spcPct val="100000"/>
                        </a:lnSpc>
                        <a:spcBef>
                          <a:spcPts val="240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-Service Contracts      </a:t>
                      </a:r>
                      <a:endParaRPr/>
                    </a:p>
                    <a:p>
                      <a:pPr indent="0" lvl="0" marL="63500" marR="0" rtl="0" algn="l">
                        <a:lnSpc>
                          <a:spcPct val="100000"/>
                        </a:lnSpc>
                        <a:spcBef>
                          <a:spcPts val="2400"/>
                        </a:spcBef>
                        <a:spcAft>
                          <a:spcPts val="0"/>
                        </a:spcAft>
                        <a:buNone/>
                      </a:pPr>
                      <a:r>
                        <a:t/>
                      </a:r>
                      <a:endParaRPr b="0" i="0" sz="1200">
                        <a:solidFill>
                          <a:schemeClr val="dk1"/>
                        </a:solidFill>
                        <a:latin typeface="Calibri"/>
                        <a:ea typeface="Calibri"/>
                        <a:cs typeface="Calibri"/>
                        <a:sym typeface="Calibri"/>
                      </a:endParaRPr>
                    </a:p>
                  </a:txBody>
                  <a:tcPr marT="62525" marB="62525" marR="75025" marL="62525">
                    <a:solidFill>
                      <a:srgbClr val="DDEAF6"/>
                    </a:solidFill>
                  </a:tcPr>
                </a:tc>
                <a:tc h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41" name="Shape 141"/>
        <p:cNvGrpSpPr/>
        <p:nvPr/>
      </p:nvGrpSpPr>
      <p:grpSpPr>
        <a:xfrm>
          <a:off x="0" y="0"/>
          <a:ext cx="0" cy="0"/>
          <a:chOff x="0" y="0"/>
          <a:chExt cx="0" cy="0"/>
        </a:xfrm>
      </p:grpSpPr>
      <p:sp>
        <p:nvSpPr>
          <p:cNvPr id="142" name="Google Shape;142;p9"/>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3" name="Google Shape;143;p9"/>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44" name="Google Shape;144;p9"/>
          <p:cNvGraphicFramePr/>
          <p:nvPr/>
        </p:nvGraphicFramePr>
        <p:xfrm>
          <a:off x="258617" y="570117"/>
          <a:ext cx="3000000" cy="3000000"/>
        </p:xfrm>
        <a:graphic>
          <a:graphicData uri="http://schemas.openxmlformats.org/drawingml/2006/table">
            <a:tbl>
              <a:tblPr bandRow="1" firstRow="1">
                <a:noFill/>
                <a:tableStyleId>{99D8455E-7A12-4B3C-AA80-D5E178C19C4D}</a:tableStyleId>
              </a:tblPr>
              <a:tblGrid>
                <a:gridCol w="11674775"/>
              </a:tblGrid>
              <a:tr h="244475">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System Design </a:t>
                      </a:r>
                      <a:endParaRPr b="1" sz="1600">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382175">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1.System Architecture and Data Flow</a:t>
                      </a:r>
                      <a:endParaRPr b="1" sz="1600">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5450350">
                <a:tc>
                  <a:txBody>
                    <a:bodyPr/>
                    <a:lstStyle/>
                    <a:p>
                      <a:pPr indent="0" lvl="0" marL="0" marR="0" rtl="1" algn="l">
                        <a:spcBef>
                          <a:spcPts val="0"/>
                        </a:spcBef>
                        <a:spcAft>
                          <a:spcPts val="0"/>
                        </a:spcAft>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A screenshot of a computer&#10;&#10;Description automatically generated with medium confidence" id="145" name="Google Shape;145;p9"/>
          <p:cNvPicPr preferRelativeResize="0"/>
          <p:nvPr/>
        </p:nvPicPr>
        <p:blipFill rotWithShape="1">
          <a:blip r:embed="rId4">
            <a:alphaModFix/>
          </a:blip>
          <a:srcRect b="0" l="0" r="0" t="0"/>
          <a:stretch/>
        </p:blipFill>
        <p:spPr>
          <a:xfrm>
            <a:off x="258617" y="1296140"/>
            <a:ext cx="11674763" cy="54417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p10"/>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52" name="Google Shape;152;p10"/>
          <p:cNvGraphicFramePr/>
          <p:nvPr/>
        </p:nvGraphicFramePr>
        <p:xfrm>
          <a:off x="126350" y="643293"/>
          <a:ext cx="3000000" cy="3000000"/>
        </p:xfrm>
        <a:graphic>
          <a:graphicData uri="http://schemas.openxmlformats.org/drawingml/2006/table">
            <a:tbl>
              <a:tblPr bandRow="1" firstRow="1">
                <a:noFill/>
                <a:tableStyleId>{99D8455E-7A12-4B3C-AA80-D5E178C19C4D}</a:tableStyleId>
              </a:tblPr>
              <a:tblGrid>
                <a:gridCol w="11690725"/>
              </a:tblGrid>
              <a:tr h="500350">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2.User interfaces if any </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5594275">
                <a:tc>
                  <a:txBody>
                    <a:bodyPr/>
                    <a:lstStyle/>
                    <a:p>
                      <a:pPr indent="0" lvl="0" marL="0" marR="0" rtl="1" algn="l">
                        <a:spcBef>
                          <a:spcPts val="0"/>
                        </a:spcBef>
                        <a:spcAft>
                          <a:spcPts val="0"/>
                        </a:spcAft>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53" name="Google Shape;153;p10"/>
          <p:cNvPicPr preferRelativeResize="0"/>
          <p:nvPr/>
        </p:nvPicPr>
        <p:blipFill rotWithShape="1">
          <a:blip r:embed="rId3">
            <a:alphaModFix/>
          </a:blip>
          <a:srcRect b="0" l="0" r="0" t="0"/>
          <a:stretch/>
        </p:blipFill>
        <p:spPr>
          <a:xfrm>
            <a:off x="126350" y="1166513"/>
            <a:ext cx="11690726" cy="55714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57" name="Shape 157"/>
        <p:cNvGrpSpPr/>
        <p:nvPr/>
      </p:nvGrpSpPr>
      <p:grpSpPr>
        <a:xfrm>
          <a:off x="0" y="0"/>
          <a:ext cx="0" cy="0"/>
          <a:chOff x="0" y="0"/>
          <a:chExt cx="0" cy="0"/>
        </a:xfrm>
      </p:grpSpPr>
      <p:sp>
        <p:nvSpPr>
          <p:cNvPr id="158" name="Google Shape;158;p11"/>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11"/>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60" name="Google Shape;160;p11"/>
          <p:cNvGraphicFramePr/>
          <p:nvPr/>
        </p:nvGraphicFramePr>
        <p:xfrm>
          <a:off x="258618" y="643293"/>
          <a:ext cx="3000000" cy="3000000"/>
        </p:xfrm>
        <a:graphic>
          <a:graphicData uri="http://schemas.openxmlformats.org/drawingml/2006/table">
            <a:tbl>
              <a:tblPr bandRow="1" firstRow="1">
                <a:noFill/>
                <a:tableStyleId>{99D8455E-7A12-4B3C-AA80-D5E178C19C4D}</a:tableStyleId>
              </a:tblPr>
              <a:tblGrid>
                <a:gridCol w="11674775"/>
              </a:tblGrid>
              <a:tr h="322875">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System Design </a:t>
                      </a:r>
                      <a:endParaRPr b="1" sz="1600">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322875">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3.Algorithmic components if any </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187900">
                <a:tc>
                  <a:txBody>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rPr>
                        <a:t>Applying PID algorithm on the MPU sensor’s reading (feedback) to navigate the boat to the destination.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9950">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4.Innovative aspects of the design</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2434975">
                <a:tc>
                  <a:txBody>
                    <a:bodyPr/>
                    <a:lstStyle/>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Autonomous Navigation</a:t>
                      </a:r>
                      <a:endParaRPr/>
                    </a:p>
                    <a:p>
                      <a:pPr indent="-285750" lvl="0" marL="285750" marR="0" rtl="0" algn="l">
                        <a:lnSpc>
                          <a:spcPct val="100000"/>
                        </a:lnSpc>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Remote Monitoring and Control</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Sensors Integration</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Data Transmission and Analysis</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Data Visualization and Analytics</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Classification of Water quality</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61" name="Google Shape;161;p11"/>
          <p:cNvPicPr preferRelativeResize="0"/>
          <p:nvPr/>
        </p:nvPicPr>
        <p:blipFill rotWithShape="1">
          <a:blip r:embed="rId4">
            <a:alphaModFix/>
          </a:blip>
          <a:srcRect b="0" l="5175" r="0" t="9790"/>
          <a:stretch/>
        </p:blipFill>
        <p:spPr>
          <a:xfrm>
            <a:off x="2727158" y="1860884"/>
            <a:ext cx="7209728" cy="15681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65" name="Shape 165"/>
        <p:cNvGrpSpPr/>
        <p:nvPr/>
      </p:nvGrpSpPr>
      <p:grpSpPr>
        <a:xfrm>
          <a:off x="0" y="0"/>
          <a:ext cx="0" cy="0"/>
          <a:chOff x="0" y="0"/>
          <a:chExt cx="0" cy="0"/>
        </a:xfrm>
      </p:grpSpPr>
      <p:sp>
        <p:nvSpPr>
          <p:cNvPr id="166" name="Google Shape;166;p12"/>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12"/>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68" name="Google Shape;168;p12"/>
          <p:cNvGraphicFramePr/>
          <p:nvPr/>
        </p:nvGraphicFramePr>
        <p:xfrm>
          <a:off x="258618" y="643293"/>
          <a:ext cx="3000000" cy="3000000"/>
        </p:xfrm>
        <a:graphic>
          <a:graphicData uri="http://schemas.openxmlformats.org/drawingml/2006/table">
            <a:tbl>
              <a:tblPr bandRow="1" firstRow="1">
                <a:noFill/>
                <a:tableStyleId>{99D8455E-7A12-4B3C-AA80-D5E178C19C4D}</a:tableStyleId>
              </a:tblPr>
              <a:tblGrid>
                <a:gridCol w="11674775"/>
              </a:tblGrid>
              <a:tr h="322875">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Hardware and software platforms</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187900">
                <a:tc>
                  <a:txBody>
                    <a:bodyPr/>
                    <a:lstStyle/>
                    <a:p>
                      <a:pPr indent="0" lvl="0" marL="0" marR="0" rtl="1" algn="l">
                        <a:spcBef>
                          <a:spcPts val="0"/>
                        </a:spcBef>
                        <a:spcAft>
                          <a:spcPts val="0"/>
                        </a:spcAft>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9950">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Challenges</a:t>
                      </a:r>
                      <a:r>
                        <a:rPr lang="en-US" sz="1200">
                          <a:solidFill>
                            <a:srgbClr val="FFFFFF"/>
                          </a:solidFill>
                          <a:latin typeface="Times New Roman"/>
                          <a:ea typeface="Times New Roman"/>
                          <a:cs typeface="Times New Roman"/>
                          <a:sym typeface="Times New Roman"/>
                        </a:rPr>
                        <a:t> </a:t>
                      </a:r>
                      <a:r>
                        <a:rPr b="1" lang="en-US" sz="1200">
                          <a:solidFill>
                            <a:schemeClr val="lt1"/>
                          </a:solidFill>
                          <a:latin typeface="Calibri"/>
                          <a:ea typeface="Calibri"/>
                          <a:cs typeface="Calibri"/>
                          <a:sym typeface="Calibri"/>
                        </a:rPr>
                        <a:t>How to overcome them, and how it affects the overall project</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2434975">
                <a:tc>
                  <a:txBody>
                    <a:bodyPr/>
                    <a:lstStyle/>
                    <a:p>
                      <a:pPr indent="-285750" lvl="0" marL="285750" marR="0" rtl="0" algn="l">
                        <a:spcBef>
                          <a:spcPts val="0"/>
                        </a:spcBef>
                        <a:spcAft>
                          <a:spcPts val="0"/>
                        </a:spcAft>
                        <a:buClr>
                          <a:schemeClr val="dk1"/>
                        </a:buClr>
                        <a:buSzPts val="2000"/>
                        <a:buFont typeface="Arial"/>
                        <a:buChar char="•"/>
                      </a:pPr>
                      <a:r>
                        <a:rPr b="1" i="0" lang="en-US" sz="2000">
                          <a:solidFill>
                            <a:schemeClr val="dk1"/>
                          </a:solidFill>
                          <a:latin typeface="Calibri"/>
                          <a:ea typeface="Calibri"/>
                          <a:cs typeface="Calibri"/>
                          <a:sym typeface="Calibri"/>
                        </a:rPr>
                        <a:t>Sensor Calibration and Maintenance </a:t>
                      </a:r>
                      <a:r>
                        <a:rPr b="0" i="0" lang="en-US" sz="2000">
                          <a:solidFill>
                            <a:schemeClr val="dk1"/>
                          </a:solidFill>
                          <a:latin typeface="Calibri"/>
                          <a:ea typeface="Calibri"/>
                          <a:cs typeface="Calibri"/>
                          <a:sym typeface="Calibri"/>
                        </a:rPr>
                        <a:t>-&gt; by testing in different conditions and validating against reference standards.</a:t>
                      </a:r>
                      <a:endParaRPr/>
                    </a:p>
                    <a:p>
                      <a:pPr indent="-285750" lvl="0" marL="285750" marR="0" rtl="0" algn="l">
                        <a:spcBef>
                          <a:spcPts val="0"/>
                        </a:spcBef>
                        <a:spcAft>
                          <a:spcPts val="0"/>
                        </a:spcAft>
                        <a:buClr>
                          <a:schemeClr val="dk1"/>
                        </a:buClr>
                        <a:buSzPts val="2000"/>
                        <a:buFont typeface="Arial"/>
                        <a:buChar char="•"/>
                      </a:pPr>
                      <a:r>
                        <a:rPr b="1" i="0" lang="en-US" sz="2000">
                          <a:solidFill>
                            <a:schemeClr val="dk1"/>
                          </a:solidFill>
                          <a:latin typeface="Calibri"/>
                          <a:ea typeface="Calibri"/>
                          <a:cs typeface="Calibri"/>
                          <a:sym typeface="Calibri"/>
                        </a:rPr>
                        <a:t>Power Management </a:t>
                      </a:r>
                      <a:r>
                        <a:rPr b="0" i="0" lang="en-US" sz="2000">
                          <a:solidFill>
                            <a:schemeClr val="dk1"/>
                          </a:solidFill>
                          <a:latin typeface="Calibri"/>
                          <a:ea typeface="Calibri"/>
                          <a:cs typeface="Calibri"/>
                          <a:sym typeface="Calibri"/>
                        </a:rPr>
                        <a:t>-&gt; using two powering units one for motion components  &amp; one for the monitoring components. </a:t>
                      </a:r>
                      <a:endParaRPr/>
                    </a:p>
                    <a:p>
                      <a:pPr indent="-285750" lvl="0" marL="285750" marR="0" rtl="0" algn="l">
                        <a:spcBef>
                          <a:spcPts val="0"/>
                        </a:spcBef>
                        <a:spcAft>
                          <a:spcPts val="0"/>
                        </a:spcAft>
                        <a:buClr>
                          <a:schemeClr val="dk1"/>
                        </a:buClr>
                        <a:buSzPts val="2000"/>
                        <a:buFont typeface="Arial"/>
                        <a:buChar char="•"/>
                      </a:pPr>
                      <a:r>
                        <a:rPr b="1" i="0" lang="en-US" sz="2000">
                          <a:solidFill>
                            <a:schemeClr val="dk1"/>
                          </a:solidFill>
                          <a:latin typeface="Calibri"/>
                          <a:ea typeface="Calibri"/>
                          <a:cs typeface="Calibri"/>
                          <a:sym typeface="Calibri"/>
                        </a:rPr>
                        <a:t>Data Transmission and Connectivity </a:t>
                      </a:r>
                      <a:r>
                        <a:rPr b="0" i="0" lang="en-US" sz="2000">
                          <a:solidFill>
                            <a:schemeClr val="dk1"/>
                          </a:solidFill>
                          <a:latin typeface="Calibri"/>
                          <a:ea typeface="Calibri"/>
                          <a:cs typeface="Calibri"/>
                          <a:sym typeface="Calibri"/>
                        </a:rPr>
                        <a:t>-&gt; using a wide range Bluetooth module to send sensors reading to mobile app.</a:t>
                      </a:r>
                      <a:endParaRPr/>
                    </a:p>
                    <a:p>
                      <a:pPr indent="-285750" lvl="0" marL="285750" marR="0" rtl="0" algn="l">
                        <a:spcBef>
                          <a:spcPts val="0"/>
                        </a:spcBef>
                        <a:spcAft>
                          <a:spcPts val="0"/>
                        </a:spcAft>
                        <a:buClr>
                          <a:schemeClr val="dk1"/>
                        </a:buClr>
                        <a:buSzPts val="2000"/>
                        <a:buFont typeface="Arial"/>
                        <a:buChar char="•"/>
                      </a:pPr>
                      <a:r>
                        <a:rPr b="1" i="0" lang="en-US" sz="2000">
                          <a:solidFill>
                            <a:schemeClr val="dk1"/>
                          </a:solidFill>
                          <a:latin typeface="Calibri"/>
                          <a:ea typeface="Calibri"/>
                          <a:cs typeface="Calibri"/>
                          <a:sym typeface="Calibri"/>
                        </a:rPr>
                        <a:t>Boat Navigation</a:t>
                      </a:r>
                      <a:r>
                        <a:rPr b="0" i="0" lang="en-US" sz="2000">
                          <a:solidFill>
                            <a:schemeClr val="dk1"/>
                          </a:solidFill>
                          <a:latin typeface="Calibri"/>
                          <a:ea typeface="Calibri"/>
                          <a:cs typeface="Calibri"/>
                          <a:sym typeface="Calibri"/>
                        </a:rPr>
                        <a:t> -&gt; using GPS module to detect starting coordinates and destination coordinates then use MPU sensor to make boat reach destination also using ultrasonic sensor to make boat avoid in obstacles in the way</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169" name="Google Shape;169;p12"/>
          <p:cNvGraphicFramePr/>
          <p:nvPr/>
        </p:nvGraphicFramePr>
        <p:xfrm>
          <a:off x="1122947" y="1166513"/>
          <a:ext cx="3000000" cy="3000000"/>
        </p:xfrm>
        <a:graphic>
          <a:graphicData uri="http://schemas.openxmlformats.org/drawingml/2006/table">
            <a:tbl>
              <a:tblPr bandRow="1" firstRow="1">
                <a:noFill/>
                <a:tableStyleId>{99D8455E-7A12-4B3C-AA80-D5E178C19C4D}</a:tableStyleId>
              </a:tblPr>
              <a:tblGrid>
                <a:gridCol w="5133475"/>
                <a:gridCol w="5133475"/>
              </a:tblGrid>
              <a:tr h="370850">
                <a:tc>
                  <a:txBody>
                    <a:bodyPr/>
                    <a:lstStyle/>
                    <a:p>
                      <a:pPr indent="0" lvl="0" marL="0" marR="0" rtl="0" algn="ctr">
                        <a:spcBef>
                          <a:spcPts val="0"/>
                        </a:spcBef>
                        <a:spcAft>
                          <a:spcPts val="0"/>
                        </a:spcAft>
                        <a:buNone/>
                      </a:pPr>
                      <a:r>
                        <a:rPr lang="en-US" sz="1800"/>
                        <a:t>Hardware Platforms</a:t>
                      </a:r>
                      <a:endParaRPr/>
                    </a:p>
                  </a:txBody>
                  <a:tcPr marT="45725" marB="45725" marR="91450" marL="91450"/>
                </a:tc>
                <a:tc>
                  <a:txBody>
                    <a:bodyPr/>
                    <a:lstStyle/>
                    <a:p>
                      <a:pPr indent="0" lvl="0" marL="0" marR="0" rtl="0" algn="ctr">
                        <a:spcBef>
                          <a:spcPts val="0"/>
                        </a:spcBef>
                        <a:spcAft>
                          <a:spcPts val="0"/>
                        </a:spcAft>
                        <a:buNone/>
                      </a:pPr>
                      <a:r>
                        <a:rPr lang="en-US" sz="1800"/>
                        <a:t>Software Platforms</a:t>
                      </a:r>
                      <a:endParaRPr/>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Microcontrollers (Atmega 32)</a:t>
                      </a:r>
                      <a:endParaRPr sz="1800"/>
                    </a:p>
                  </a:txBody>
                  <a:tcPr marT="45725" marB="45725" marR="91450" marL="91450"/>
                </a:tc>
                <a:tc>
                  <a:txBody>
                    <a:bodyPr/>
                    <a:lstStyle/>
                    <a:p>
                      <a:pPr indent="0" lvl="0" marL="0" marR="0" rtl="0" algn="l">
                        <a:spcBef>
                          <a:spcPts val="0"/>
                        </a:spcBef>
                        <a:spcAft>
                          <a:spcPts val="0"/>
                        </a:spcAft>
                        <a:buNone/>
                      </a:pPr>
                      <a:r>
                        <a:rPr lang="en-US" sz="1800"/>
                        <a:t>Atmel Studio </a:t>
                      </a:r>
                      <a:endParaRPr/>
                    </a:p>
                  </a:txBody>
                  <a:tcPr marT="45725" marB="45725" marR="91450" marL="91450"/>
                </a:tc>
              </a:tr>
              <a:tr h="370850">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Sensors ( pH, TDS, Turbidity, Temperature )</a:t>
                      </a:r>
                      <a:endParaRPr sz="1800"/>
                    </a:p>
                  </a:txBody>
                  <a:tcPr marT="45725" marB="45725" marR="91450" marL="91450"/>
                </a:tc>
                <a:tc>
                  <a:txBody>
                    <a:bodyPr/>
                    <a:lstStyle/>
                    <a:p>
                      <a:pPr indent="0" lvl="0" marL="0" marR="0" rtl="0" algn="l">
                        <a:spcBef>
                          <a:spcPts val="0"/>
                        </a:spcBef>
                        <a:spcAft>
                          <a:spcPts val="0"/>
                        </a:spcAft>
                        <a:buNone/>
                      </a:pPr>
                      <a:r>
                        <a:rPr lang="en-US" sz="1800"/>
                        <a:t>Flutter</a:t>
                      </a:r>
                      <a:endParaRPr/>
                    </a:p>
                  </a:txBody>
                  <a:tcPr marT="45725" marB="45725" marR="91450" marL="91450"/>
                </a:tc>
              </a:tr>
              <a:tr h="370850">
                <a:tc>
                  <a:txBody>
                    <a:bodyPr/>
                    <a:lstStyle/>
                    <a:p>
                      <a:pPr indent="0" lvl="0" marL="0" marR="0" rtl="0" algn="l">
                        <a:spcBef>
                          <a:spcPts val="0"/>
                        </a:spcBef>
                        <a:spcAft>
                          <a:spcPts val="0"/>
                        </a:spcAft>
                        <a:buNone/>
                      </a:pPr>
                      <a:r>
                        <a:rPr lang="en-US" sz="1800"/>
                        <a:t>GPS Module</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Bluetooth Communication Module</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73" name="Shape 173"/>
        <p:cNvGrpSpPr/>
        <p:nvPr/>
      </p:nvGrpSpPr>
      <p:grpSpPr>
        <a:xfrm>
          <a:off x="0" y="0"/>
          <a:ext cx="0" cy="0"/>
          <a:chOff x="0" y="0"/>
          <a:chExt cx="0" cy="0"/>
        </a:xfrm>
      </p:grpSpPr>
      <p:sp>
        <p:nvSpPr>
          <p:cNvPr id="174" name="Google Shape;174;p13"/>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5" name="Google Shape;175;p13"/>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76" name="Google Shape;176;p13"/>
          <p:cNvGraphicFramePr/>
          <p:nvPr/>
        </p:nvGraphicFramePr>
        <p:xfrm>
          <a:off x="258618" y="643294"/>
          <a:ext cx="3000000" cy="3000000"/>
        </p:xfrm>
        <a:graphic>
          <a:graphicData uri="http://schemas.openxmlformats.org/drawingml/2006/table">
            <a:tbl>
              <a:tblPr bandRow="1" firstRow="1">
                <a:noFill/>
                <a:tableStyleId>{99D8455E-7A12-4B3C-AA80-D5E178C19C4D}</a:tableStyleId>
              </a:tblPr>
              <a:tblGrid>
                <a:gridCol w="11674775"/>
              </a:tblGrid>
              <a:tr h="326575">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System Implementation </a:t>
                      </a:r>
                      <a:endParaRPr b="1" sz="1600">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598725">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Hardware and software development tools, languages, etc. Modules/components bought from external sources </a:t>
                      </a:r>
                      <a:r>
                        <a:rPr b="1" lang="en-US" sz="1200">
                          <a:solidFill>
                            <a:schemeClr val="lt1"/>
                          </a:solidFill>
                          <a:latin typeface="Calibri"/>
                          <a:ea typeface="Calibri"/>
                          <a:cs typeface="Calibri"/>
                          <a:sym typeface="Calibri"/>
                        </a:rPr>
                        <a:t>(e.g., open source, licensed commercial/trial products, etc.)</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2464150">
                <a:tc>
                  <a:txBody>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rPr>
                        <a:t>Hardware Components </a:t>
                      </a:r>
                      <a:r>
                        <a:rPr lang="en-US" sz="2000">
                          <a:solidFill>
                            <a:schemeClr val="dk1"/>
                          </a:solidFill>
                        </a:rPr>
                        <a:t>: </a:t>
                      </a:r>
                      <a:endParaRPr/>
                    </a:p>
                    <a:p>
                      <a:pPr indent="0" lvl="0" marL="0" marR="0" rtl="0" algn="ctr">
                        <a:spcBef>
                          <a:spcPts val="0"/>
                        </a:spcBef>
                        <a:spcAft>
                          <a:spcPts val="0"/>
                        </a:spcAft>
                        <a:buClr>
                          <a:schemeClr val="dk1"/>
                        </a:buClr>
                        <a:buSzPts val="2000"/>
                        <a:buFont typeface="Arial"/>
                        <a:buNone/>
                      </a:pPr>
                      <a:r>
                        <a:rPr lang="en-US" sz="2000">
                          <a:solidFill>
                            <a:schemeClr val="dk1"/>
                          </a:solidFill>
                        </a:rPr>
                        <a:t>2 MCU (Atmega32), pH Sensor, Total Dissolved Solids Sensor, Turbidity Sensor, Water Temperature Sensor, Bluetooth Module, GPS Module, MPU Sensor, 2 Motors, H-Bridge, Ultrasonic Sensor]</a:t>
                      </a:r>
                      <a:endParaRPr/>
                    </a:p>
                    <a:p>
                      <a:pPr indent="-285750" lvl="0" marL="285750" marR="0" rtl="0" algn="l">
                        <a:spcBef>
                          <a:spcPts val="0"/>
                        </a:spcBef>
                        <a:spcAft>
                          <a:spcPts val="0"/>
                        </a:spcAft>
                        <a:buClr>
                          <a:schemeClr val="dk1"/>
                        </a:buClr>
                        <a:buSzPts val="2000"/>
                        <a:buFont typeface="Arial"/>
                        <a:buChar char="•"/>
                      </a:pPr>
                      <a:r>
                        <a:rPr b="1" lang="en-US" sz="2000">
                          <a:solidFill>
                            <a:schemeClr val="dk1"/>
                          </a:solidFill>
                        </a:rPr>
                        <a:t>Software Development tools :</a:t>
                      </a:r>
                      <a:endParaRPr/>
                    </a:p>
                    <a:p>
                      <a:pPr indent="0" lvl="0" marL="0" marR="0" rtl="0" algn="ctr">
                        <a:spcBef>
                          <a:spcPts val="0"/>
                        </a:spcBef>
                        <a:spcAft>
                          <a:spcPts val="0"/>
                        </a:spcAft>
                        <a:buClr>
                          <a:schemeClr val="dk1"/>
                        </a:buClr>
                        <a:buSzPts val="2000"/>
                        <a:buFont typeface="Arial"/>
                        <a:buNone/>
                      </a:pPr>
                      <a:r>
                        <a:rPr b="0" lang="en-US" sz="2000">
                          <a:solidFill>
                            <a:schemeClr val="dk1"/>
                          </a:solidFill>
                        </a:rPr>
                        <a:t>Atmel Studio IDE, Flutter Framework</a:t>
                      </a:r>
                      <a:endParaRPr/>
                    </a:p>
                    <a:p>
                      <a:pPr indent="-342900" lvl="0" marL="342900" marR="0" rtl="0" algn="l">
                        <a:spcBef>
                          <a:spcPts val="0"/>
                        </a:spcBef>
                        <a:spcAft>
                          <a:spcPts val="0"/>
                        </a:spcAft>
                        <a:buClr>
                          <a:schemeClr val="dk1"/>
                        </a:buClr>
                        <a:buSzPts val="2000"/>
                        <a:buFont typeface="Arial"/>
                        <a:buChar char="•"/>
                      </a:pPr>
                      <a:r>
                        <a:rPr b="1" lang="en-US" sz="2000">
                          <a:solidFill>
                            <a:schemeClr val="dk1"/>
                          </a:solidFill>
                        </a:rPr>
                        <a:t>Programming Languages: </a:t>
                      </a:r>
                      <a:endParaRPr/>
                    </a:p>
                    <a:p>
                      <a:pPr indent="0" lvl="0" marL="0" marR="0" rtl="0" algn="ctr">
                        <a:spcBef>
                          <a:spcPts val="0"/>
                        </a:spcBef>
                        <a:spcAft>
                          <a:spcPts val="0"/>
                        </a:spcAft>
                        <a:buClr>
                          <a:schemeClr val="dk1"/>
                        </a:buClr>
                        <a:buSzPts val="2000"/>
                        <a:buFont typeface="Arial"/>
                        <a:buNone/>
                      </a:pPr>
                      <a:r>
                        <a:rPr b="0" lang="en-US" sz="2000">
                          <a:solidFill>
                            <a:schemeClr val="dk1"/>
                          </a:solidFill>
                        </a:rPr>
                        <a:t>C, Embedded C for MCU and sensors configuration</a:t>
                      </a:r>
                      <a:endParaRPr/>
                    </a:p>
                    <a:p>
                      <a:pPr indent="0" lvl="0" marL="0" marR="0" rtl="0" algn="ctr">
                        <a:spcBef>
                          <a:spcPts val="0"/>
                        </a:spcBef>
                        <a:spcAft>
                          <a:spcPts val="0"/>
                        </a:spcAft>
                        <a:buClr>
                          <a:schemeClr val="dk1"/>
                        </a:buClr>
                        <a:buSzPts val="2000"/>
                        <a:buFont typeface="Arial"/>
                        <a:buNone/>
                      </a:pPr>
                      <a:r>
                        <a:rPr b="0" lang="en-US" sz="2000">
                          <a:solidFill>
                            <a:schemeClr val="dk1"/>
                          </a:solidFill>
                        </a:rPr>
                        <a:t>Dart for the mobile app</a:t>
                      </a:r>
                      <a:endParaRPr b="1"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3975">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Innovative aspects of the implementation</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2291225">
                <a:tc>
                  <a:txBody>
                    <a:bodyPr/>
                    <a:lstStyle/>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Autonomous Mission Planning and Optimization</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Sensor Integration and Calibration</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Data Processing and Analysis</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Collaborative Monitoring Networks</a:t>
                      </a:r>
                      <a:endParaRPr/>
                    </a:p>
                    <a:p>
                      <a:pPr indent="-285750" lvl="0" marL="285750" marR="0" rtl="0" algn="l">
                        <a:spcBef>
                          <a:spcPts val="0"/>
                        </a:spcBef>
                        <a:spcAft>
                          <a:spcPts val="0"/>
                        </a:spcAft>
                        <a:buClr>
                          <a:schemeClr val="dk1"/>
                        </a:buClr>
                        <a:buSzPts val="2400"/>
                        <a:buFont typeface="Arial"/>
                        <a:buChar char="•"/>
                      </a:pPr>
                      <a:r>
                        <a:rPr b="0" i="0" lang="en-US" sz="2400">
                          <a:solidFill>
                            <a:schemeClr val="dk1"/>
                          </a:solidFill>
                          <a:latin typeface="Calibri"/>
                          <a:ea typeface="Calibri"/>
                          <a:cs typeface="Calibri"/>
                          <a:sym typeface="Calibri"/>
                        </a:rPr>
                        <a:t>User-friendly Data Visualization and Reporting</a:t>
                      </a:r>
                      <a:endParaRPr sz="24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2000"/>
          </a:blip>
          <a:stretch>
            <a:fillRect/>
          </a:stretch>
        </a:blipFill>
      </p:bgPr>
    </p:bg>
    <p:spTree>
      <p:nvGrpSpPr>
        <p:cNvPr id="180" name="Shape 180"/>
        <p:cNvGrpSpPr/>
        <p:nvPr/>
      </p:nvGrpSpPr>
      <p:grpSpPr>
        <a:xfrm>
          <a:off x="0" y="0"/>
          <a:ext cx="0" cy="0"/>
          <a:chOff x="0" y="0"/>
          <a:chExt cx="0" cy="0"/>
        </a:xfrm>
      </p:grpSpPr>
      <p:sp>
        <p:nvSpPr>
          <p:cNvPr id="181" name="Google Shape;181;p14"/>
          <p:cNvSpPr/>
          <p:nvPr/>
        </p:nvSpPr>
        <p:spPr>
          <a:xfrm>
            <a:off x="0" y="0"/>
            <a:ext cx="12192000" cy="120073"/>
          </a:xfrm>
          <a:prstGeom prst="rect">
            <a:avLst/>
          </a:prstGeom>
          <a:solidFill>
            <a:srgbClr val="F9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14"/>
          <p:cNvSpPr txBox="1"/>
          <p:nvPr/>
        </p:nvSpPr>
        <p:spPr>
          <a:xfrm>
            <a:off x="3048000" y="120073"/>
            <a:ext cx="60960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sng" cap="none" strike="noStrike">
                <a:solidFill>
                  <a:schemeClr val="dk1"/>
                </a:solidFill>
                <a:latin typeface="Times New Roman"/>
                <a:ea typeface="Times New Roman"/>
                <a:cs typeface="Times New Roman"/>
                <a:sym typeface="Times New Roman"/>
              </a:rPr>
              <a:t>Technical Approach</a:t>
            </a:r>
            <a:endParaRPr b="0" i="0" sz="2800" u="none" cap="none" strike="noStrike">
              <a:solidFill>
                <a:schemeClr val="dk1"/>
              </a:solidFill>
              <a:latin typeface="Arial"/>
              <a:ea typeface="Arial"/>
              <a:cs typeface="Arial"/>
              <a:sym typeface="Arial"/>
            </a:endParaRPr>
          </a:p>
        </p:txBody>
      </p:sp>
      <p:graphicFrame>
        <p:nvGraphicFramePr>
          <p:cNvPr id="183" name="Google Shape;183;p14"/>
          <p:cNvGraphicFramePr/>
          <p:nvPr/>
        </p:nvGraphicFramePr>
        <p:xfrm>
          <a:off x="258618" y="643293"/>
          <a:ext cx="3000000" cy="3000000"/>
        </p:xfrm>
        <a:graphic>
          <a:graphicData uri="http://schemas.openxmlformats.org/drawingml/2006/table">
            <a:tbl>
              <a:tblPr bandRow="1" firstRow="1">
                <a:noFill/>
                <a:tableStyleId>{99D8455E-7A12-4B3C-AA80-D5E178C19C4D}</a:tableStyleId>
              </a:tblPr>
              <a:tblGrid>
                <a:gridCol w="11674775"/>
              </a:tblGrid>
              <a:tr h="356550">
                <a:tc>
                  <a:txBody>
                    <a:bodyPr/>
                    <a:lstStyle/>
                    <a:p>
                      <a:pPr indent="0" lvl="0" marL="0" marR="0" rtl="1" algn="ctr">
                        <a:spcBef>
                          <a:spcPts val="0"/>
                        </a:spcBef>
                        <a:spcAft>
                          <a:spcPts val="0"/>
                        </a:spcAft>
                        <a:buNone/>
                      </a:pPr>
                      <a:r>
                        <a:rPr b="1" lang="en-US" sz="1600">
                          <a:solidFill>
                            <a:schemeClr val="lt1"/>
                          </a:solidFill>
                          <a:latin typeface="Poppins"/>
                          <a:ea typeface="Poppins"/>
                          <a:cs typeface="Poppins"/>
                          <a:sym typeface="Poppins"/>
                        </a:rPr>
                        <a:t>System Implementation </a:t>
                      </a:r>
                      <a:endParaRPr b="1" sz="1600">
                        <a:solidFill>
                          <a:schemeClr val="lt1"/>
                        </a:solidFill>
                        <a:latin typeface="Poppins"/>
                        <a:ea typeface="Poppins"/>
                        <a:cs typeface="Poppins"/>
                        <a:sym typeface="Poppi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346650">
                <a:tc>
                  <a:txBody>
                    <a:bodyPr/>
                    <a:lstStyle/>
                    <a:p>
                      <a:pPr indent="0" lvl="0" marL="0" marR="0" rtl="0" algn="ctr">
                        <a:spcBef>
                          <a:spcPts val="0"/>
                        </a:spcBef>
                        <a:spcAft>
                          <a:spcPts val="0"/>
                        </a:spcAft>
                        <a:buNone/>
                      </a:pPr>
                      <a:r>
                        <a:rPr b="1" lang="en-US" sz="1600">
                          <a:solidFill>
                            <a:schemeClr val="lt1"/>
                          </a:solidFill>
                          <a:latin typeface="Poppins"/>
                          <a:ea typeface="Poppins"/>
                          <a:cs typeface="Poppins"/>
                          <a:sym typeface="Poppins"/>
                        </a:rPr>
                        <a:t>Current Progress</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alpha val="57647"/>
                      </a:srgbClr>
                    </a:solidFill>
                  </a:tcPr>
                </a:tc>
              </a:tr>
              <a:tr h="1344800">
                <a:tc>
                  <a:txBody>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rPr>
                        <a:t>The Monitoring Section is completed and tested several times in various conditions.</a:t>
                      </a:r>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The Mobile Application that display the monitoring sensors reading is completed and tested several times in various conditions.</a:t>
                      </a:r>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The Motion Section is working but still needs some modifications.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025">
                <a:tc>
                  <a:txBody>
                    <a:bodyPr/>
                    <a:lstStyle/>
                    <a:p>
                      <a:pPr indent="0" lvl="0" marL="457200" marR="0" rtl="0" algn="ctr">
                        <a:spcBef>
                          <a:spcPts val="0"/>
                        </a:spcBef>
                        <a:spcAft>
                          <a:spcPts val="0"/>
                        </a:spcAft>
                        <a:buNone/>
                      </a:pPr>
                      <a:r>
                        <a:rPr b="1" lang="en-US" sz="1600">
                          <a:solidFill>
                            <a:schemeClr val="lt1"/>
                          </a:solidFill>
                          <a:latin typeface="Poppins"/>
                          <a:ea typeface="Poppins"/>
                          <a:cs typeface="Poppins"/>
                          <a:sym typeface="Poppins"/>
                        </a:rPr>
                        <a:t>Availability Plan</a:t>
                      </a:r>
                      <a:endParaRPr sz="1100">
                        <a:latin typeface="Arial"/>
                        <a:ea typeface="Arial"/>
                        <a:cs typeface="Arial"/>
                        <a:sym typeface="Arial"/>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1060775">
                <a:tc>
                  <a:txBody>
                    <a:bodyPr/>
                    <a:lstStyle/>
                    <a:p>
                      <a:pPr indent="-342900" lvl="0" marL="457200" marR="0" rtl="0" algn="l">
                        <a:spcBef>
                          <a:spcPts val="0"/>
                        </a:spcBef>
                        <a:spcAft>
                          <a:spcPts val="0"/>
                        </a:spcAft>
                        <a:buClr>
                          <a:schemeClr val="dk1"/>
                        </a:buClr>
                        <a:buSzPts val="1800"/>
                        <a:buChar char="●"/>
                      </a:pPr>
                      <a:r>
                        <a:rPr lang="en-US" sz="1800"/>
                        <a:t>the project is almost ready but needs some modifications: wifi instead of bluetooth for further range, stm32 instead of atmega32 for higher processing, making a product line </a:t>
                      </a:r>
                      <a:r>
                        <a:rPr lang="en-US" sz="1800"/>
                        <a:t>connecting</a:t>
                      </a:r>
                      <a:r>
                        <a:rPr lang="en-US" sz="1800"/>
                        <a:t> multiple </a:t>
                      </a:r>
                      <a:r>
                        <a:rPr lang="en-US" sz="1800"/>
                        <a:t>devices together and use cloud computing to upload and process data.</a:t>
                      </a:r>
                      <a:endParaRPr sz="18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6650">
                <a:tc>
                  <a:txBody>
                    <a:bodyPr/>
                    <a:lstStyle/>
                    <a:p>
                      <a:pPr indent="0" lvl="0" marL="457200" marR="0" rtl="0" algn="ctr">
                        <a:spcBef>
                          <a:spcPts val="0"/>
                        </a:spcBef>
                        <a:spcAft>
                          <a:spcPts val="0"/>
                        </a:spcAft>
                        <a:buNone/>
                      </a:pPr>
                      <a:r>
                        <a:rPr b="1" lang="en-US" sz="1600">
                          <a:solidFill>
                            <a:schemeClr val="lt1"/>
                          </a:solidFill>
                          <a:latin typeface="Poppins"/>
                          <a:ea typeface="Poppins"/>
                          <a:cs typeface="Poppins"/>
                          <a:sym typeface="Poppins"/>
                        </a:rPr>
                        <a:t>Contingency plan and risk plan</a:t>
                      </a:r>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6B6B"/>
                    </a:solidFill>
                  </a:tcPr>
                </a:tc>
              </a:tr>
              <a:tr h="2036875">
                <a:tc>
                  <a:txBody>
                    <a:bodyPr/>
                    <a:lstStyle/>
                    <a:p>
                      <a:pPr indent="-342900" lvl="0" marL="457200" marR="0" rtl="0" algn="l">
                        <a:spcBef>
                          <a:spcPts val="0"/>
                        </a:spcBef>
                        <a:spcAft>
                          <a:spcPts val="0"/>
                        </a:spcAft>
                        <a:buClr>
                          <a:schemeClr val="dk1"/>
                        </a:buClr>
                        <a:buSzPts val="1800"/>
                        <a:buChar char="●"/>
                      </a:pPr>
                      <a:r>
                        <a:rPr lang="en-US" sz="1800"/>
                        <a:t>there may appear some risks in the future: 1- fund risk: more than one device may require almost more than 2000 LE.</a:t>
                      </a:r>
                      <a:endParaRPr sz="1800"/>
                    </a:p>
                    <a:p>
                      <a:pPr indent="-342900" lvl="0" marL="457200" marR="0" rtl="0" algn="l">
                        <a:spcBef>
                          <a:spcPts val="0"/>
                        </a:spcBef>
                        <a:spcAft>
                          <a:spcPts val="0"/>
                        </a:spcAft>
                        <a:buSzPts val="1800"/>
                        <a:buChar char="●"/>
                      </a:pPr>
                      <a:r>
                        <a:rPr lang="en-US" sz="1800"/>
                        <a:t>2- components risk:water sensors may need to be imported if not available or more expensive.</a:t>
                      </a:r>
                      <a:endParaRPr sz="1800"/>
                    </a:p>
                    <a:p>
                      <a:pPr indent="-342900" lvl="0" marL="457200" marR="0" rtl="0" algn="l">
                        <a:spcBef>
                          <a:spcPts val="0"/>
                        </a:spcBef>
                        <a:spcAft>
                          <a:spcPts val="0"/>
                        </a:spcAft>
                        <a:buSzPts val="1800"/>
                        <a:buChar char="●"/>
                      </a:pPr>
                      <a:r>
                        <a:rPr lang="en-US" sz="1800"/>
                        <a:t>3- motion quality risk: if weather changes are not expected </a:t>
                      </a:r>
                      <a:r>
                        <a:rPr lang="en-US" sz="1800"/>
                        <a:t>especially</a:t>
                      </a:r>
                      <a:r>
                        <a:rPr lang="en-US" sz="1800"/>
                        <a:t> outside Egypt.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2023-06-26T07:53:57Z</dcterms:created>
  <dc:creator>Mahmoud Nasif</dc:creator>
</cp:coreProperties>
</file>